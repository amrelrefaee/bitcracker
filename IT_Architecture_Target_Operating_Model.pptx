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proposal focuses on reshaping the IT Architecture function to better support the bank's transformation agenda. The objective is not simply to redraw the org chart. It is to create an operating model that improves delivery support, strengthens governance, clarifies ownership, and prepares the bank for emerging technology adoption in a controlled way.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setup is not fundamentally broken. It is credible and contains most of the necessary disciplines. The problem is fragmentation. Architecture is not yet operating as one integrated profession, and the bank needs a model that can support both strong governance and faster delivery. The proposed model addresses that through central functional control and local operational deployment.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function already contains many of the right building blocks. The issue is that architecture, solution support, integration, and innovation-related decisions are spread across too many places. As the bank increases digital change, platformization, and ecosystem integration, that fragmentation becomes more expensive and harder to govern.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principles are important because they prevent us from solving one problem by creating another. For example, we do not want to improve delivery intimacy by losing central governance. And we do not want to promote innovation by allowing uncontrolled experimentation. The target model is designed to balance both sides.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structure being proposed. It establishes a single architecture home while preserving depth in solution, platform, security, and data architecture. Emerging Technology &amp; Innovation Architecture is also added under the Chief Architect, because at this stage it should remain centrally governed and closely connected to architecture standards rather than being spun out into a separate lab.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operating principle. Architects remain part of one central profession, but they are not kept away from delivery. They are deployed into the host organizations where change is happening. That gives the bank both enterprise consistency and daily delivery support. The central team remains the functional home, while the host organizations provide business context and operational priorities.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critical because the target model will only work if the boundaries are explicit. Architecture must not drift into engineering execution, and GRC must not drift into solution design. Similarly, architecture governance must focus on decision quality and standards adherence, not become a document-heavy bureaucracy.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distinction is especially important in your context because the term integration architect is used to mean integration platform architect. The solution architect identifies what interfaces are needed by the business solution. The integration or platform architect determines how those interfaces are built on the enterprise integration platform. Engineering then implements and runs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Innovation needs to be injected into the organization, but in a disciplined way. This capability creates a controlled front door for emerging technologies and experimental initiatives. It allows the bank to explore AI agents, new tools, and fintech opportunities without bypassing architectural, security, or data controls.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goal here is to avoid two common failure modes: scattered experimentation with no control, and innovation theater with no path into production. Every idea must move through a clear funnel: scan, triage, POC, and then either stop or move into the delivery roadmap.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100 days are about establishing the operating model, not completing the entire transformation. Success at this stage means the structure is live, governance is running, embedded deployment has started in priority domains, and the first KPIs and innovation use cases are visible.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horizon is about making the model sustainable. By year-end, architecture should no longer be perceived as a review function only. It should be visibly influencing solution quality, platform reuse, standards adoption, and roadmap decisions across the bank.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KPIs are transition metrics. They measure whether the target model is becoming operational. At this stage, we are not yet measuring long-term value. We are measuring readiness, activation, adoption, and the first signs of controlled execution.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more meaningful architecture KPIs. They shift the discussion from activity to value. The focus is on coverage, speed, reuse, alignment, and reduced design-related risk. Innovation is also measured by conversion and usefulness, not by the number of ideas or events.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decision slide. The model is strong, but it will only succeed if leadership endorses the operating principles, not just the structure. The key requirement is clarity: clarity of reporting, roles, governance, and innovation path. With that in place, the model gives the bank a scalable architecture function aligned with both present constraints and future ambitions.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 cy="6858000"/>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0" y="0"/>
            <a:ext cx="9144" cy="6858000"/>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0" y="0"/>
            <a:ext cx="9144" cy="6858000"/>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0" y="0"/>
            <a:ext cx="9144" cy="6858000"/>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0" y="0"/>
            <a:ext cx="9144" cy="6858000"/>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0" y="0"/>
            <a:ext cx="9144" cy="6858000"/>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0"/>
            <a:ext cx="9144" cy="6858000"/>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0"/>
            <a:ext cx="9144" cy="6858000"/>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0" y="0"/>
            <a:ext cx="9144" cy="6858000"/>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0"/>
            <a:ext cx="9144" cy="6858000"/>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0" y="0"/>
            <a:ext cx="9144" cy="6858000"/>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058400" y="0"/>
            <a:ext cx="9144" cy="6858000"/>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0972800" y="0"/>
            <a:ext cx="9144" cy="6858000"/>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887200" y="0"/>
            <a:ext cx="9144" cy="6858000"/>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88952" cy="9144"/>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914400"/>
            <a:ext cx="12188952" cy="9144"/>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1828800"/>
            <a:ext cx="12188952" cy="9144"/>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2743200"/>
            <a:ext cx="12188952" cy="9144"/>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3657600"/>
            <a:ext cx="12188952" cy="9144"/>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4572000"/>
            <a:ext cx="12188952" cy="9144"/>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5486400"/>
            <a:ext cx="12188952" cy="9144"/>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400800"/>
            <a:ext cx="12188952" cy="9144"/>
          </a:xfrm>
          <a:prstGeom prst="rect">
            <a:avLst/>
          </a:prstGeom>
          <a:solidFill>
            <a:srgbClr val="1E4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2560320"/>
            <a:ext cx="12188952" cy="73152"/>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4160520"/>
            <a:ext cx="12188952" cy="73152"/>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1920240"/>
            <a:ext cx="10881360" cy="1417320"/>
          </a:xfrm>
          <a:prstGeom prst="rect">
            <a:avLst/>
          </a:prstGeom>
          <a:noFill/>
        </p:spPr>
        <p:txBody>
          <a:bodyPr wrap="square">
            <a:spAutoFit/>
          </a:bodyPr>
          <a:lstStyle/>
          <a:p>
            <a:pPr algn="l"/>
            <a:r>
              <a:rPr sz="3400" b="1" i="0">
                <a:solidFill>
                  <a:srgbClr val="FFFFFF"/>
                </a:solidFill>
              </a:rPr>
              <a:t>IT Architecture Target Operating Model
and Transformation Roadmap</a:t>
            </a:r>
          </a:p>
        </p:txBody>
      </p:sp>
      <p:sp>
        <p:nvSpPr>
          <p:cNvPr id="28" name="TextBox 27"/>
          <p:cNvSpPr txBox="1"/>
          <p:nvPr/>
        </p:nvSpPr>
        <p:spPr>
          <a:xfrm>
            <a:off x="640080" y="4343400"/>
            <a:ext cx="10881360" cy="457200"/>
          </a:xfrm>
          <a:prstGeom prst="rect">
            <a:avLst/>
          </a:prstGeom>
          <a:noFill/>
        </p:spPr>
        <p:txBody>
          <a:bodyPr wrap="square">
            <a:spAutoFit/>
          </a:bodyPr>
          <a:lstStyle/>
          <a:p>
            <a:pPr algn="l"/>
            <a:r>
              <a:rPr sz="2000" b="0" i="0">
                <a:solidFill>
                  <a:srgbClr val="D6E8F7"/>
                </a:solidFill>
              </a:rPr>
              <a:t>Architecture Team Restructuring Proposal</a:t>
            </a:r>
          </a:p>
        </p:txBody>
      </p:sp>
      <p:sp>
        <p:nvSpPr>
          <p:cNvPr id="29" name="TextBox 28"/>
          <p:cNvSpPr txBox="1"/>
          <p:nvPr/>
        </p:nvSpPr>
        <p:spPr>
          <a:xfrm>
            <a:off x="640080" y="6035040"/>
            <a:ext cx="10881360" cy="457200"/>
          </a:xfrm>
          <a:prstGeom prst="rect">
            <a:avLst/>
          </a:prstGeom>
          <a:noFill/>
        </p:spPr>
        <p:txBody>
          <a:bodyPr wrap="square">
            <a:spAutoFit/>
          </a:bodyPr>
          <a:lstStyle/>
          <a:p>
            <a:pPr algn="l"/>
            <a:r>
              <a:rPr sz="1300" b="0" i="0">
                <a:solidFill>
                  <a:srgbClr val="E0A800"/>
                </a:solidFill>
              </a:rPr>
              <a:t>Target model  ·  100-day plan  ·  One-year roadmap  ·  KPIs  ·  Innovation capability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9728"/>
            <a:ext cx="11430000" cy="685800"/>
          </a:xfrm>
          <a:prstGeom prst="rect">
            <a:avLst/>
          </a:prstGeom>
          <a:noFill/>
        </p:spPr>
        <p:txBody>
          <a:bodyPr wrap="square">
            <a:spAutoFit/>
          </a:bodyPr>
          <a:lstStyle/>
          <a:p>
            <a:pPr algn="l"/>
            <a:r>
              <a:rPr sz="2600" b="1" i="0">
                <a:solidFill>
                  <a:srgbClr val="FFFFFF"/>
                </a:solidFill>
              </a:rPr>
              <a:t>Why We Are Changing the Architecture Model</a:t>
            </a:r>
          </a:p>
        </p:txBody>
      </p:sp>
      <p:sp>
        <p:nvSpPr>
          <p:cNvPr id="5" name="Rectangle 4"/>
          <p:cNvSpPr/>
          <p:nvPr/>
        </p:nvSpPr>
        <p:spPr>
          <a:xfrm>
            <a:off x="0" y="105156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430000" cy="274320"/>
          </a:xfrm>
          <a:prstGeom prst="rect">
            <a:avLst/>
          </a:prstGeom>
          <a:noFill/>
        </p:spPr>
        <p:txBody>
          <a:bodyPr wrap="square">
            <a:spAutoFit/>
          </a:bodyPr>
          <a:lstStyle/>
          <a:p>
            <a:pPr algn="ctr"/>
            <a:r>
              <a:rPr sz="1100" b="0" i="0">
                <a:solidFill>
                  <a:srgbClr val="D6E8F7"/>
                </a:solidFill>
              </a:rPr>
              <a:t>Executive Summary</a:t>
            </a:r>
          </a:p>
        </p:txBody>
      </p:sp>
      <p:sp>
        <p:nvSpPr>
          <p:cNvPr id="8" name="Rectangle 7"/>
          <p:cNvSpPr/>
          <p:nvPr/>
        </p:nvSpPr>
        <p:spPr>
          <a:xfrm>
            <a:off x="274320" y="1371600"/>
            <a:ext cx="3822191" cy="457200"/>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435608"/>
            <a:ext cx="3639311" cy="347472"/>
          </a:xfrm>
          <a:prstGeom prst="rect">
            <a:avLst/>
          </a:prstGeom>
          <a:noFill/>
        </p:spPr>
        <p:txBody>
          <a:bodyPr wrap="square">
            <a:spAutoFit/>
          </a:bodyPr>
          <a:lstStyle/>
          <a:p>
            <a:pPr algn="l"/>
            <a:r>
              <a:rPr sz="1500" b="1" i="0">
                <a:solidFill>
                  <a:srgbClr val="FFFFFF"/>
                </a:solidFill>
              </a:rPr>
              <a:t>Current Challenge</a:t>
            </a:r>
          </a:p>
        </p:txBody>
      </p:sp>
      <p:sp>
        <p:nvSpPr>
          <p:cNvPr id="10" name="Rectangle 9"/>
          <p:cNvSpPr/>
          <p:nvPr/>
        </p:nvSpPr>
        <p:spPr>
          <a:xfrm>
            <a:off x="274320" y="1828800"/>
            <a:ext cx="3822191" cy="402336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79" y="1920240"/>
            <a:ext cx="3547872" cy="3886200"/>
          </a:xfrm>
          <a:prstGeom prst="rect">
            <a:avLst/>
          </a:prstGeom>
          <a:noFill/>
        </p:spPr>
        <p:txBody>
          <a:bodyPr wrap="square">
            <a:spAutoFit/>
          </a:bodyPr>
          <a:lstStyle/>
          <a:p>
            <a:pPr algn="l">
              <a:spcAft>
                <a:spcPts val="800"/>
              </a:spcAft>
            </a:pPr>
            <a:r>
              <a:rPr sz="1300" b="0">
                <a:solidFill>
                  <a:srgbClr val="333333"/>
                </a:solidFill>
              </a:rPr>
              <a:t>• Architecture is fragmented across multiple towers</a:t>
            </a:r>
          </a:p>
          <a:p>
            <a:pPr algn="l">
              <a:spcAft>
                <a:spcPts val="800"/>
              </a:spcAft>
            </a:pPr>
            <a:r>
              <a:rPr sz="1300" b="0">
                <a:solidFill>
                  <a:srgbClr val="333333"/>
                </a:solidFill>
              </a:rPr>
              <a:t>• Overlap, slower decisions, and inconsistent accountability</a:t>
            </a:r>
          </a:p>
          <a:p>
            <a:pPr algn="l">
              <a:spcAft>
                <a:spcPts val="800"/>
              </a:spcAft>
            </a:pPr>
            <a:r>
              <a:rPr sz="1300" b="0">
                <a:solidFill>
                  <a:srgbClr val="333333"/>
                </a:solidFill>
              </a:rPr>
              <a:t>• Model better suited to traditional centralized IT</a:t>
            </a:r>
          </a:p>
        </p:txBody>
      </p:sp>
      <p:sp>
        <p:nvSpPr>
          <p:cNvPr id="12" name="Rectangle 11"/>
          <p:cNvSpPr/>
          <p:nvPr/>
        </p:nvSpPr>
        <p:spPr>
          <a:xfrm>
            <a:off x="4270248" y="1371600"/>
            <a:ext cx="3822191" cy="4572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61688" y="1435608"/>
            <a:ext cx="3639311" cy="347472"/>
          </a:xfrm>
          <a:prstGeom prst="rect">
            <a:avLst/>
          </a:prstGeom>
          <a:noFill/>
        </p:spPr>
        <p:txBody>
          <a:bodyPr wrap="square">
            <a:spAutoFit/>
          </a:bodyPr>
          <a:lstStyle/>
          <a:p>
            <a:pPr algn="l"/>
            <a:r>
              <a:rPr sz="1500" b="1" i="0">
                <a:solidFill>
                  <a:srgbClr val="FFFFFF"/>
                </a:solidFill>
              </a:rPr>
              <a:t>Target Model</a:t>
            </a:r>
          </a:p>
        </p:txBody>
      </p:sp>
      <p:sp>
        <p:nvSpPr>
          <p:cNvPr id="14" name="Rectangle 13"/>
          <p:cNvSpPr/>
          <p:nvPr/>
        </p:nvSpPr>
        <p:spPr>
          <a:xfrm>
            <a:off x="4270248" y="1828800"/>
            <a:ext cx="3822191" cy="402336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07408" y="1920240"/>
            <a:ext cx="3547872" cy="3886200"/>
          </a:xfrm>
          <a:prstGeom prst="rect">
            <a:avLst/>
          </a:prstGeom>
          <a:noFill/>
        </p:spPr>
        <p:txBody>
          <a:bodyPr wrap="square">
            <a:spAutoFit/>
          </a:bodyPr>
          <a:lstStyle/>
          <a:p>
            <a:pPr algn="l">
              <a:spcAft>
                <a:spcPts val="800"/>
              </a:spcAft>
            </a:pPr>
            <a:r>
              <a:rPr sz="1300" b="0">
                <a:solidFill>
                  <a:srgbClr val="333333"/>
                </a:solidFill>
              </a:rPr>
              <a:t>• Centralized Architecture Office</a:t>
            </a:r>
          </a:p>
          <a:p>
            <a:pPr algn="l">
              <a:spcAft>
                <a:spcPts val="800"/>
              </a:spcAft>
            </a:pPr>
            <a:r>
              <a:rPr sz="1300" b="0">
                <a:solidFill>
                  <a:srgbClr val="333333"/>
                </a:solidFill>
              </a:rPr>
              <a:t>• Embedded architects across delivery &amp; platform orgs</a:t>
            </a:r>
          </a:p>
          <a:p>
            <a:pPr algn="l">
              <a:spcAft>
                <a:spcPts val="800"/>
              </a:spcAft>
            </a:pPr>
            <a:r>
              <a:rPr sz="1300" b="0">
                <a:solidFill>
                  <a:srgbClr val="333333"/>
                </a:solidFill>
              </a:rPr>
              <a:t>• Enterprise consistency + delivery proximity</a:t>
            </a:r>
          </a:p>
          <a:p>
            <a:pPr algn="l">
              <a:spcAft>
                <a:spcPts val="800"/>
              </a:spcAft>
            </a:pPr>
            <a:r>
              <a:rPr sz="1300" b="0">
                <a:solidFill>
                  <a:srgbClr val="333333"/>
                </a:solidFill>
              </a:rPr>
              <a:t>• New Emerging Technology &amp; Innovation capability</a:t>
            </a:r>
          </a:p>
        </p:txBody>
      </p:sp>
      <p:sp>
        <p:nvSpPr>
          <p:cNvPr id="16" name="Rectangle 15"/>
          <p:cNvSpPr/>
          <p:nvPr/>
        </p:nvSpPr>
        <p:spPr>
          <a:xfrm>
            <a:off x="8266176" y="1371600"/>
            <a:ext cx="3822191" cy="457200"/>
          </a:xfrm>
          <a:prstGeom prst="rect">
            <a:avLst/>
          </a:prstGeom>
          <a:solidFill>
            <a:srgbClr val="147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7616" y="1435608"/>
            <a:ext cx="3639311" cy="347472"/>
          </a:xfrm>
          <a:prstGeom prst="rect">
            <a:avLst/>
          </a:prstGeom>
          <a:noFill/>
        </p:spPr>
        <p:txBody>
          <a:bodyPr wrap="square">
            <a:spAutoFit/>
          </a:bodyPr>
          <a:lstStyle/>
          <a:p>
            <a:pPr algn="l"/>
            <a:r>
              <a:rPr sz="1500" b="1" i="0">
                <a:solidFill>
                  <a:srgbClr val="FFFFFF"/>
                </a:solidFill>
              </a:rPr>
              <a:t>Outcome</a:t>
            </a:r>
          </a:p>
        </p:txBody>
      </p:sp>
      <p:sp>
        <p:nvSpPr>
          <p:cNvPr id="18" name="Rectangle 17"/>
          <p:cNvSpPr/>
          <p:nvPr/>
        </p:nvSpPr>
        <p:spPr>
          <a:xfrm>
            <a:off x="8266176" y="1828800"/>
            <a:ext cx="3822191" cy="402336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03336" y="1920240"/>
            <a:ext cx="3547872" cy="3886200"/>
          </a:xfrm>
          <a:prstGeom prst="rect">
            <a:avLst/>
          </a:prstGeom>
          <a:noFill/>
        </p:spPr>
        <p:txBody>
          <a:bodyPr wrap="square">
            <a:spAutoFit/>
          </a:bodyPr>
          <a:lstStyle/>
          <a:p>
            <a:pPr algn="l">
              <a:spcAft>
                <a:spcPts val="800"/>
              </a:spcAft>
            </a:pPr>
            <a:r>
              <a:rPr sz="1300" b="0">
                <a:solidFill>
                  <a:srgbClr val="333333"/>
                </a:solidFill>
              </a:rPr>
              <a:t>• Enterprise consistency maintained</a:t>
            </a:r>
          </a:p>
          <a:p>
            <a:pPr algn="l">
              <a:spcAft>
                <a:spcPts val="800"/>
              </a:spcAft>
            </a:pPr>
            <a:r>
              <a:rPr sz="1300" b="0">
                <a:solidFill>
                  <a:srgbClr val="333333"/>
                </a:solidFill>
              </a:rPr>
              <a:t>• Improved day-to-day delivery support</a:t>
            </a:r>
          </a:p>
          <a:p>
            <a:pPr algn="l">
              <a:spcAft>
                <a:spcPts val="800"/>
              </a:spcAft>
            </a:pPr>
            <a:r>
              <a:rPr sz="1300" b="0">
                <a:solidFill>
                  <a:srgbClr val="333333"/>
                </a:solidFill>
              </a:rPr>
              <a:t>• Regulatory defensibility strengthened</a:t>
            </a:r>
          </a:p>
          <a:p>
            <a:pPr algn="l">
              <a:spcAft>
                <a:spcPts val="800"/>
              </a:spcAft>
            </a:pPr>
            <a:r>
              <a:rPr sz="1300" b="0">
                <a:solidFill>
                  <a:srgbClr val="333333"/>
                </a:solidFill>
              </a:rPr>
              <a:t>• Two horizons: first 100 days + first year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9728"/>
            <a:ext cx="11430000" cy="685800"/>
          </a:xfrm>
          <a:prstGeom prst="rect">
            <a:avLst/>
          </a:prstGeom>
          <a:noFill/>
        </p:spPr>
        <p:txBody>
          <a:bodyPr wrap="square">
            <a:spAutoFit/>
          </a:bodyPr>
          <a:lstStyle/>
          <a:p>
            <a:pPr algn="l"/>
            <a:r>
              <a:rPr sz="2600" b="1" i="0">
                <a:solidFill>
                  <a:srgbClr val="FFFFFF"/>
                </a:solidFill>
              </a:rPr>
              <a:t>Current Model: Strong Foundation, Limited Scalability</a:t>
            </a:r>
          </a:p>
        </p:txBody>
      </p:sp>
      <p:sp>
        <p:nvSpPr>
          <p:cNvPr id="5" name="Rectangle 4"/>
          <p:cNvSpPr/>
          <p:nvPr/>
        </p:nvSpPr>
        <p:spPr>
          <a:xfrm>
            <a:off x="0" y="105156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430000" cy="274320"/>
          </a:xfrm>
          <a:prstGeom prst="rect">
            <a:avLst/>
          </a:prstGeom>
          <a:noFill/>
        </p:spPr>
        <p:txBody>
          <a:bodyPr wrap="square">
            <a:spAutoFit/>
          </a:bodyPr>
          <a:lstStyle/>
          <a:p>
            <a:pPr algn="ctr"/>
            <a:r>
              <a:rPr sz="1100" b="0" i="0">
                <a:solidFill>
                  <a:srgbClr val="D6E8F7"/>
                </a:solidFill>
              </a:rPr>
              <a:t>Why Evolve the Current Model</a:t>
            </a:r>
          </a:p>
        </p:txBody>
      </p:sp>
      <p:sp>
        <p:nvSpPr>
          <p:cNvPr id="8" name="Rectangle 7"/>
          <p:cNvSpPr/>
          <p:nvPr/>
        </p:nvSpPr>
        <p:spPr>
          <a:xfrm>
            <a:off x="4480560" y="2743200"/>
            <a:ext cx="3200400" cy="7772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2788920"/>
            <a:ext cx="3108960" cy="685800"/>
          </a:xfrm>
          <a:prstGeom prst="rect">
            <a:avLst/>
          </a:prstGeom>
          <a:noFill/>
        </p:spPr>
        <p:txBody>
          <a:bodyPr wrap="square">
            <a:spAutoFit/>
          </a:bodyPr>
          <a:lstStyle/>
          <a:p>
            <a:pPr algn="ctr"/>
            <a:r>
              <a:rPr sz="1300" b="1" i="0">
                <a:solidFill>
                  <a:srgbClr val="FFFFFF"/>
                </a:solidFill>
              </a:rPr>
              <a:t>Current
Architecture Model</a:t>
            </a:r>
          </a:p>
        </p:txBody>
      </p:sp>
      <p:sp>
        <p:nvSpPr>
          <p:cNvPr id="10" name="Rectangle 9"/>
          <p:cNvSpPr/>
          <p:nvPr/>
        </p:nvSpPr>
        <p:spPr>
          <a:xfrm>
            <a:off x="182880" y="2331720"/>
            <a:ext cx="3200400" cy="685800"/>
          </a:xfrm>
          <a:prstGeom prst="rect">
            <a:avLst/>
          </a:prstGeom>
          <a:solidFill>
            <a:srgbClr val="1A5F9C"/>
          </a:solidFill>
          <a:ln w="6350">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2386584"/>
            <a:ext cx="3017520" cy="576072"/>
          </a:xfrm>
          <a:prstGeom prst="rect">
            <a:avLst/>
          </a:prstGeom>
          <a:noFill/>
        </p:spPr>
        <p:txBody>
          <a:bodyPr wrap="square">
            <a:spAutoFit/>
          </a:bodyPr>
          <a:lstStyle/>
          <a:p>
            <a:pPr algn="ctr"/>
            <a:r>
              <a:rPr sz="1200" b="0" i="0">
                <a:solidFill>
                  <a:srgbClr val="FFFFFF"/>
                </a:solidFill>
              </a:rPr>
              <a:t>Fragmented ownership
across towers</a:t>
            </a:r>
          </a:p>
        </p:txBody>
      </p:sp>
      <p:sp>
        <p:nvSpPr>
          <p:cNvPr id="12" name="Rectangle 11"/>
          <p:cNvSpPr/>
          <p:nvPr/>
        </p:nvSpPr>
        <p:spPr>
          <a:xfrm>
            <a:off x="8778240" y="2331720"/>
            <a:ext cx="3154680" cy="685800"/>
          </a:xfrm>
          <a:prstGeom prst="rect">
            <a:avLst/>
          </a:prstGeom>
          <a:solidFill>
            <a:srgbClr val="1A5F9C"/>
          </a:solidFill>
          <a:ln w="6350">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9680" y="2386584"/>
            <a:ext cx="2971800" cy="576072"/>
          </a:xfrm>
          <a:prstGeom prst="rect">
            <a:avLst/>
          </a:prstGeom>
          <a:noFill/>
        </p:spPr>
        <p:txBody>
          <a:bodyPr wrap="square">
            <a:spAutoFit/>
          </a:bodyPr>
          <a:lstStyle/>
          <a:p>
            <a:pPr algn="ctr"/>
            <a:r>
              <a:rPr sz="1200" b="0" i="0">
                <a:solidFill>
                  <a:srgbClr val="FFFFFF"/>
                </a:solidFill>
              </a:rPr>
              <a:t>Slower decisions
&amp; overlap</a:t>
            </a:r>
          </a:p>
        </p:txBody>
      </p:sp>
      <p:sp>
        <p:nvSpPr>
          <p:cNvPr id="14" name="Rectangle 13"/>
          <p:cNvSpPr/>
          <p:nvPr/>
        </p:nvSpPr>
        <p:spPr>
          <a:xfrm>
            <a:off x="182880" y="3840480"/>
            <a:ext cx="3200400" cy="685800"/>
          </a:xfrm>
          <a:prstGeom prst="rect">
            <a:avLst/>
          </a:prstGeom>
          <a:solidFill>
            <a:srgbClr val="1A5F9C"/>
          </a:solidFill>
          <a:ln w="6350">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 y="3895344"/>
            <a:ext cx="3017520" cy="576072"/>
          </a:xfrm>
          <a:prstGeom prst="rect">
            <a:avLst/>
          </a:prstGeom>
          <a:noFill/>
        </p:spPr>
        <p:txBody>
          <a:bodyPr wrap="square">
            <a:spAutoFit/>
          </a:bodyPr>
          <a:lstStyle/>
          <a:p>
            <a:pPr algn="ctr"/>
            <a:r>
              <a:rPr sz="1200" b="0" i="0">
                <a:solidFill>
                  <a:srgbClr val="FFFFFF"/>
                </a:solidFill>
              </a:rPr>
              <a:t>Designed for
centralized IT model</a:t>
            </a:r>
          </a:p>
        </p:txBody>
      </p:sp>
      <p:sp>
        <p:nvSpPr>
          <p:cNvPr id="16" name="Rectangle 15"/>
          <p:cNvSpPr/>
          <p:nvPr/>
        </p:nvSpPr>
        <p:spPr>
          <a:xfrm>
            <a:off x="8778240" y="3840480"/>
            <a:ext cx="3154680" cy="685800"/>
          </a:xfrm>
          <a:prstGeom prst="rect">
            <a:avLst/>
          </a:prstGeom>
          <a:solidFill>
            <a:srgbClr val="1A5F9C"/>
          </a:solidFill>
          <a:ln w="6350">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0" y="3895344"/>
            <a:ext cx="2971800" cy="576072"/>
          </a:xfrm>
          <a:prstGeom prst="rect">
            <a:avLst/>
          </a:prstGeom>
          <a:noFill/>
        </p:spPr>
        <p:txBody>
          <a:bodyPr wrap="square">
            <a:spAutoFit/>
          </a:bodyPr>
          <a:lstStyle/>
          <a:p>
            <a:pPr algn="ctr"/>
            <a:r>
              <a:rPr sz="1200" b="0" i="0">
                <a:solidFill>
                  <a:srgbClr val="FFFFFF"/>
                </a:solidFill>
              </a:rPr>
              <a:t>Inconsistent
accountability</a:t>
            </a:r>
          </a:p>
        </p:txBody>
      </p:sp>
      <p:sp>
        <p:nvSpPr>
          <p:cNvPr id="18" name="Rectangle 17"/>
          <p:cNvSpPr/>
          <p:nvPr/>
        </p:nvSpPr>
        <p:spPr>
          <a:xfrm>
            <a:off x="4343400" y="1417320"/>
            <a:ext cx="3474720" cy="685800"/>
          </a:xfrm>
          <a:prstGeom prst="rect">
            <a:avLst/>
          </a:prstGeom>
          <a:solidFill>
            <a:srgbClr val="1A5F9C"/>
          </a:solidFill>
          <a:ln w="6350">
            <a:solidFill>
              <a:srgbClr val="0D2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1472184"/>
            <a:ext cx="3291839" cy="576072"/>
          </a:xfrm>
          <a:prstGeom prst="rect">
            <a:avLst/>
          </a:prstGeom>
          <a:noFill/>
        </p:spPr>
        <p:txBody>
          <a:bodyPr wrap="square">
            <a:spAutoFit/>
          </a:bodyPr>
          <a:lstStyle/>
          <a:p>
            <a:pPr algn="ctr"/>
            <a:r>
              <a:rPr sz="1200" b="0" i="0">
                <a:solidFill>
                  <a:srgbClr val="FFFFFF"/>
                </a:solidFill>
              </a:rPr>
              <a:t>Limited scalability for
digital acceleration</a:t>
            </a:r>
          </a:p>
        </p:txBody>
      </p:sp>
      <p:sp>
        <p:nvSpPr>
          <p:cNvPr id="20" name="Rectangle 19"/>
          <p:cNvSpPr/>
          <p:nvPr/>
        </p:nvSpPr>
        <p:spPr>
          <a:xfrm>
            <a:off x="3383280" y="2651760"/>
            <a:ext cx="1143000" cy="54864"/>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83280" y="4160520"/>
            <a:ext cx="1143000" cy="54864"/>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635240" y="2651760"/>
            <a:ext cx="1143000" cy="54864"/>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35240" y="4160520"/>
            <a:ext cx="1143000" cy="54864"/>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760720" y="2103120"/>
            <a:ext cx="54864" cy="658368"/>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4846320"/>
            <a:ext cx="5029200" cy="320040"/>
          </a:xfrm>
          <a:prstGeom prst="rect">
            <a:avLst/>
          </a:prstGeom>
          <a:noFill/>
        </p:spPr>
        <p:txBody>
          <a:bodyPr wrap="square">
            <a:spAutoFit/>
          </a:bodyPr>
          <a:lstStyle/>
          <a:p>
            <a:pPr algn="l"/>
            <a:r>
              <a:rPr sz="1300" b="1" i="0">
                <a:solidFill>
                  <a:srgbClr val="0D2B55"/>
                </a:solidFill>
              </a:rPr>
              <a:t>What the bank now needs:</a:t>
            </a:r>
          </a:p>
        </p:txBody>
      </p:sp>
      <p:sp>
        <p:nvSpPr>
          <p:cNvPr id="26" name="TextBox 25"/>
          <p:cNvSpPr txBox="1"/>
          <p:nvPr/>
        </p:nvSpPr>
        <p:spPr>
          <a:xfrm>
            <a:off x="274320" y="5166360"/>
            <a:ext cx="5303520" cy="1097280"/>
          </a:xfrm>
          <a:prstGeom prst="rect">
            <a:avLst/>
          </a:prstGeom>
          <a:noFill/>
        </p:spPr>
        <p:txBody>
          <a:bodyPr wrap="square">
            <a:spAutoFit/>
          </a:bodyPr>
          <a:lstStyle/>
          <a:p>
            <a:pPr algn="l">
              <a:spcAft>
                <a:spcPts val="400"/>
              </a:spcAft>
            </a:pPr>
            <a:r>
              <a:rPr sz="1200" b="0">
                <a:solidFill>
                  <a:srgbClr val="333333"/>
                </a:solidFill>
              </a:rPr>
              <a:t>• Digital acceleration</a:t>
            </a:r>
          </a:p>
          <a:p>
            <a:pPr algn="l">
              <a:spcAft>
                <a:spcPts val="400"/>
              </a:spcAft>
            </a:pPr>
            <a:r>
              <a:rPr sz="1200" b="0">
                <a:solidFill>
                  <a:srgbClr val="333333"/>
                </a:solidFill>
              </a:rPr>
              <a:t>• Platform reuse</a:t>
            </a:r>
          </a:p>
          <a:p>
            <a:pPr algn="l">
              <a:spcAft>
                <a:spcPts val="400"/>
              </a:spcAft>
            </a:pPr>
            <a:r>
              <a:rPr sz="1200" b="0">
                <a:solidFill>
                  <a:srgbClr val="333333"/>
                </a:solidFill>
              </a:rPr>
              <a:t>• API-led integration</a:t>
            </a:r>
          </a:p>
          <a:p>
            <a:pPr algn="l">
              <a:spcAft>
                <a:spcPts val="400"/>
              </a:spcAft>
            </a:pPr>
            <a:r>
              <a:rPr sz="1200" b="0">
                <a:solidFill>
                  <a:srgbClr val="333333"/>
                </a:solidFill>
              </a:rPr>
              <a:t>• Stronger data architecture</a:t>
            </a:r>
          </a:p>
          <a:p>
            <a:pPr algn="l">
              <a:spcAft>
                <a:spcPts val="400"/>
              </a:spcAft>
            </a:pPr>
            <a:r>
              <a:rPr sz="1200" b="0">
                <a:solidFill>
                  <a:srgbClr val="333333"/>
                </a:solidFill>
              </a:rPr>
              <a:t>• Controlled innovation</a:t>
            </a:r>
          </a:p>
        </p:txBody>
      </p:sp>
      <p:sp>
        <p:nvSpPr>
          <p:cNvPr id="27" name="Rectangle 26"/>
          <p:cNvSpPr/>
          <p:nvPr/>
        </p:nvSpPr>
        <p:spPr>
          <a:xfrm>
            <a:off x="6217920" y="4846320"/>
            <a:ext cx="5669280" cy="640080"/>
          </a:xfrm>
          <a:prstGeom prst="rect">
            <a:avLst/>
          </a:prstGeom>
          <a:solidFill>
            <a:srgbClr val="D6E8F7"/>
          </a:solidFill>
          <a:ln w="19050">
            <a:solidFill>
              <a:srgbClr val="1A5F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5080" y="4937759"/>
            <a:ext cx="5394960" cy="457199"/>
          </a:xfrm>
          <a:prstGeom prst="rect">
            <a:avLst/>
          </a:prstGeom>
          <a:noFill/>
        </p:spPr>
        <p:txBody>
          <a:bodyPr wrap="square">
            <a:spAutoFit/>
          </a:bodyPr>
          <a:lstStyle/>
          <a:p>
            <a:pPr algn="ctr"/>
            <a:r>
              <a:rPr sz="1300" b="1">
                <a:solidFill>
                  <a:srgbClr val="0D2B55"/>
                </a:solidFill>
              </a:rPr>
              <a:t>The issue is not missing capabilities. The issue is fragmented ownership.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9728"/>
            <a:ext cx="11430000" cy="685800"/>
          </a:xfrm>
          <a:prstGeom prst="rect">
            <a:avLst/>
          </a:prstGeom>
          <a:noFill/>
        </p:spPr>
        <p:txBody>
          <a:bodyPr wrap="square">
            <a:spAutoFit/>
          </a:bodyPr>
          <a:lstStyle/>
          <a:p>
            <a:pPr algn="l"/>
            <a:r>
              <a:rPr sz="2600" b="1" i="0">
                <a:solidFill>
                  <a:srgbClr val="FFFFFF"/>
                </a:solidFill>
              </a:rPr>
              <a:t>Design Principles for the Target Architecture Model</a:t>
            </a:r>
          </a:p>
        </p:txBody>
      </p:sp>
      <p:sp>
        <p:nvSpPr>
          <p:cNvPr id="5" name="Rectangle 4"/>
          <p:cNvSpPr/>
          <p:nvPr/>
        </p:nvSpPr>
        <p:spPr>
          <a:xfrm>
            <a:off x="0" y="105156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430000" cy="274320"/>
          </a:xfrm>
          <a:prstGeom prst="rect">
            <a:avLst/>
          </a:prstGeom>
          <a:noFill/>
        </p:spPr>
        <p:txBody>
          <a:bodyPr wrap="square">
            <a:spAutoFit/>
          </a:bodyPr>
          <a:lstStyle/>
          <a:p>
            <a:pPr algn="ctr"/>
            <a:r>
              <a:rPr sz="1100" b="0" i="0">
                <a:solidFill>
                  <a:srgbClr val="D6E8F7"/>
                </a:solidFill>
              </a:rPr>
              <a:t>Design Principles</a:t>
            </a:r>
          </a:p>
        </p:txBody>
      </p:sp>
      <p:sp>
        <p:nvSpPr>
          <p:cNvPr id="8" name="Rectangle 7"/>
          <p:cNvSpPr/>
          <p:nvPr/>
        </p:nvSpPr>
        <p:spPr>
          <a:xfrm>
            <a:off x="274320" y="1325880"/>
            <a:ext cx="2231136" cy="9144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371600"/>
            <a:ext cx="2139696" cy="502920"/>
          </a:xfrm>
          <a:prstGeom prst="rect">
            <a:avLst/>
          </a:prstGeom>
          <a:noFill/>
        </p:spPr>
        <p:txBody>
          <a:bodyPr wrap="square">
            <a:spAutoFit/>
          </a:bodyPr>
          <a:lstStyle/>
          <a:p>
            <a:pPr algn="ctr"/>
            <a:r>
              <a:rPr sz="3000" b="0" i="0">
                <a:solidFill>
                  <a:srgbClr val="E0A800"/>
                </a:solidFill>
              </a:rPr>
              <a:t>⚙</a:t>
            </a:r>
          </a:p>
        </p:txBody>
      </p:sp>
      <p:sp>
        <p:nvSpPr>
          <p:cNvPr id="10" name="TextBox 9"/>
          <p:cNvSpPr txBox="1"/>
          <p:nvPr/>
        </p:nvSpPr>
        <p:spPr>
          <a:xfrm>
            <a:off x="320040" y="1828800"/>
            <a:ext cx="2139696" cy="384048"/>
          </a:xfrm>
          <a:prstGeom prst="rect">
            <a:avLst/>
          </a:prstGeom>
          <a:noFill/>
        </p:spPr>
        <p:txBody>
          <a:bodyPr wrap="square">
            <a:spAutoFit/>
          </a:bodyPr>
          <a:lstStyle/>
          <a:p>
            <a:pPr algn="ctr"/>
            <a:r>
              <a:rPr sz="1100" b="1" i="0">
                <a:solidFill>
                  <a:srgbClr val="FFFFFF"/>
                </a:solidFill>
              </a:rPr>
              <a:t>Central governance,
embedded execution</a:t>
            </a:r>
          </a:p>
        </p:txBody>
      </p:sp>
      <p:sp>
        <p:nvSpPr>
          <p:cNvPr id="11" name="Rectangle 10"/>
          <p:cNvSpPr/>
          <p:nvPr/>
        </p:nvSpPr>
        <p:spPr>
          <a:xfrm>
            <a:off x="274320" y="2240280"/>
            <a:ext cx="2231136" cy="347472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2313432"/>
            <a:ext cx="2011680" cy="3337560"/>
          </a:xfrm>
          <a:prstGeom prst="rect">
            <a:avLst/>
          </a:prstGeom>
          <a:noFill/>
        </p:spPr>
        <p:txBody>
          <a:bodyPr wrap="square">
            <a:spAutoFit/>
          </a:bodyPr>
          <a:lstStyle/>
          <a:p>
            <a:pPr algn="l">
              <a:spcAft>
                <a:spcPts val="400"/>
              </a:spcAft>
            </a:pPr>
            <a:r>
              <a:rPr sz="1200" b="0">
                <a:solidFill>
                  <a:srgbClr val="333333"/>
                </a:solidFill>
              </a:rPr>
              <a:t>Keep standards and design authority centralized while placing architects close to delivery teams.</a:t>
            </a:r>
          </a:p>
        </p:txBody>
      </p:sp>
      <p:sp>
        <p:nvSpPr>
          <p:cNvPr id="13" name="Rectangle 12"/>
          <p:cNvSpPr/>
          <p:nvPr/>
        </p:nvSpPr>
        <p:spPr>
          <a:xfrm>
            <a:off x="2633472" y="1325880"/>
            <a:ext cx="2231136" cy="9144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79191" y="1371600"/>
            <a:ext cx="2139696" cy="502920"/>
          </a:xfrm>
          <a:prstGeom prst="rect">
            <a:avLst/>
          </a:prstGeom>
          <a:noFill/>
        </p:spPr>
        <p:txBody>
          <a:bodyPr wrap="square">
            <a:spAutoFit/>
          </a:bodyPr>
          <a:lstStyle/>
          <a:p>
            <a:pPr algn="ctr"/>
            <a:r>
              <a:rPr sz="3000" b="0" i="0">
                <a:solidFill>
                  <a:srgbClr val="E0A800"/>
                </a:solidFill>
              </a:rPr>
              <a:t>🏛</a:t>
            </a:r>
          </a:p>
        </p:txBody>
      </p:sp>
      <p:sp>
        <p:nvSpPr>
          <p:cNvPr id="15" name="TextBox 14"/>
          <p:cNvSpPr txBox="1"/>
          <p:nvPr/>
        </p:nvSpPr>
        <p:spPr>
          <a:xfrm>
            <a:off x="2679191" y="1828800"/>
            <a:ext cx="2139696" cy="384048"/>
          </a:xfrm>
          <a:prstGeom prst="rect">
            <a:avLst/>
          </a:prstGeom>
          <a:noFill/>
        </p:spPr>
        <p:txBody>
          <a:bodyPr wrap="square">
            <a:spAutoFit/>
          </a:bodyPr>
          <a:lstStyle/>
          <a:p>
            <a:pPr algn="ctr"/>
            <a:r>
              <a:rPr sz="1100" b="1" i="0">
                <a:solidFill>
                  <a:srgbClr val="FFFFFF"/>
                </a:solidFill>
              </a:rPr>
              <a:t>One architecture
profession</a:t>
            </a:r>
          </a:p>
        </p:txBody>
      </p:sp>
      <p:sp>
        <p:nvSpPr>
          <p:cNvPr id="16" name="Rectangle 15"/>
          <p:cNvSpPr/>
          <p:nvPr/>
        </p:nvSpPr>
        <p:spPr>
          <a:xfrm>
            <a:off x="2633472" y="2240280"/>
            <a:ext cx="2231136" cy="347472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0" y="2313432"/>
            <a:ext cx="2011680" cy="3337560"/>
          </a:xfrm>
          <a:prstGeom prst="rect">
            <a:avLst/>
          </a:prstGeom>
          <a:noFill/>
        </p:spPr>
        <p:txBody>
          <a:bodyPr wrap="square">
            <a:spAutoFit/>
          </a:bodyPr>
          <a:lstStyle/>
          <a:p>
            <a:pPr algn="l">
              <a:spcAft>
                <a:spcPts val="400"/>
              </a:spcAft>
            </a:pPr>
            <a:r>
              <a:rPr sz="1200" b="0">
                <a:solidFill>
                  <a:srgbClr val="333333"/>
                </a:solidFill>
              </a:rPr>
              <a:t>Common methods, standards, governance, and career path.</a:t>
            </a:r>
          </a:p>
        </p:txBody>
      </p:sp>
      <p:sp>
        <p:nvSpPr>
          <p:cNvPr id="18" name="Rectangle 17"/>
          <p:cNvSpPr/>
          <p:nvPr/>
        </p:nvSpPr>
        <p:spPr>
          <a:xfrm>
            <a:off x="4992624" y="1325880"/>
            <a:ext cx="2231136" cy="9144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8344" y="1371600"/>
            <a:ext cx="2139696" cy="502920"/>
          </a:xfrm>
          <a:prstGeom prst="rect">
            <a:avLst/>
          </a:prstGeom>
          <a:noFill/>
        </p:spPr>
        <p:txBody>
          <a:bodyPr wrap="square">
            <a:spAutoFit/>
          </a:bodyPr>
          <a:lstStyle/>
          <a:p>
            <a:pPr algn="ctr"/>
            <a:r>
              <a:rPr sz="3000" b="0" i="0">
                <a:solidFill>
                  <a:srgbClr val="E0A800"/>
                </a:solidFill>
              </a:rPr>
              <a:t>🔀</a:t>
            </a:r>
          </a:p>
        </p:txBody>
      </p:sp>
      <p:sp>
        <p:nvSpPr>
          <p:cNvPr id="20" name="TextBox 19"/>
          <p:cNvSpPr txBox="1"/>
          <p:nvPr/>
        </p:nvSpPr>
        <p:spPr>
          <a:xfrm>
            <a:off x="5038344" y="1828800"/>
            <a:ext cx="2139696" cy="384048"/>
          </a:xfrm>
          <a:prstGeom prst="rect">
            <a:avLst/>
          </a:prstGeom>
          <a:noFill/>
        </p:spPr>
        <p:txBody>
          <a:bodyPr wrap="square">
            <a:spAutoFit/>
          </a:bodyPr>
          <a:lstStyle/>
          <a:p>
            <a:pPr algn="ctr"/>
            <a:r>
              <a:rPr sz="1100" b="1" i="0">
                <a:solidFill>
                  <a:srgbClr val="FFFFFF"/>
                </a:solidFill>
              </a:rPr>
              <a:t>Clear separation of
design, control &amp; execution</a:t>
            </a:r>
          </a:p>
        </p:txBody>
      </p:sp>
      <p:sp>
        <p:nvSpPr>
          <p:cNvPr id="21" name="Rectangle 20"/>
          <p:cNvSpPr/>
          <p:nvPr/>
        </p:nvSpPr>
        <p:spPr>
          <a:xfrm>
            <a:off x="4992624" y="2240280"/>
            <a:ext cx="2231136" cy="347472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02352" y="2313432"/>
            <a:ext cx="2011680" cy="3337560"/>
          </a:xfrm>
          <a:prstGeom prst="rect">
            <a:avLst/>
          </a:prstGeom>
          <a:noFill/>
        </p:spPr>
        <p:txBody>
          <a:bodyPr wrap="square">
            <a:spAutoFit/>
          </a:bodyPr>
          <a:lstStyle/>
          <a:p>
            <a:pPr algn="l">
              <a:spcAft>
                <a:spcPts val="400"/>
              </a:spcAft>
            </a:pPr>
            <a:r>
              <a:rPr sz="1200" b="0">
                <a:solidFill>
                  <a:srgbClr val="333333"/>
                </a:solidFill>
              </a:rPr>
              <a:t>Architecture, engineering, and GRC must each have distinct roles.</a:t>
            </a:r>
          </a:p>
        </p:txBody>
      </p:sp>
      <p:sp>
        <p:nvSpPr>
          <p:cNvPr id="23" name="Rectangle 22"/>
          <p:cNvSpPr/>
          <p:nvPr/>
        </p:nvSpPr>
        <p:spPr>
          <a:xfrm>
            <a:off x="7351776" y="1325880"/>
            <a:ext cx="2231136" cy="9144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97496" y="1371600"/>
            <a:ext cx="2139696" cy="502920"/>
          </a:xfrm>
          <a:prstGeom prst="rect">
            <a:avLst/>
          </a:prstGeom>
          <a:noFill/>
        </p:spPr>
        <p:txBody>
          <a:bodyPr wrap="square">
            <a:spAutoFit/>
          </a:bodyPr>
          <a:lstStyle/>
          <a:p>
            <a:pPr algn="ctr"/>
            <a:r>
              <a:rPr sz="3000" b="0" i="0">
                <a:solidFill>
                  <a:srgbClr val="E0A800"/>
                </a:solidFill>
              </a:rPr>
              <a:t>♻</a:t>
            </a:r>
          </a:p>
        </p:txBody>
      </p:sp>
      <p:sp>
        <p:nvSpPr>
          <p:cNvPr id="25" name="TextBox 24"/>
          <p:cNvSpPr txBox="1"/>
          <p:nvPr/>
        </p:nvSpPr>
        <p:spPr>
          <a:xfrm>
            <a:off x="7397496" y="1828800"/>
            <a:ext cx="2139696" cy="384048"/>
          </a:xfrm>
          <a:prstGeom prst="rect">
            <a:avLst/>
          </a:prstGeom>
          <a:noFill/>
        </p:spPr>
        <p:txBody>
          <a:bodyPr wrap="square">
            <a:spAutoFit/>
          </a:bodyPr>
          <a:lstStyle/>
          <a:p>
            <a:pPr algn="ctr"/>
            <a:r>
              <a:rPr sz="1100" b="1" i="0">
                <a:solidFill>
                  <a:srgbClr val="FFFFFF"/>
                </a:solidFill>
              </a:rPr>
              <a:t>Simplicity, reuse &amp;
standardization</a:t>
            </a:r>
          </a:p>
        </p:txBody>
      </p:sp>
      <p:sp>
        <p:nvSpPr>
          <p:cNvPr id="26" name="Rectangle 25"/>
          <p:cNvSpPr/>
          <p:nvPr/>
        </p:nvSpPr>
        <p:spPr>
          <a:xfrm>
            <a:off x="7351776" y="2240280"/>
            <a:ext cx="2231136" cy="347472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61504" y="2313432"/>
            <a:ext cx="2011680" cy="3337560"/>
          </a:xfrm>
          <a:prstGeom prst="rect">
            <a:avLst/>
          </a:prstGeom>
          <a:noFill/>
        </p:spPr>
        <p:txBody>
          <a:bodyPr wrap="square">
            <a:spAutoFit/>
          </a:bodyPr>
          <a:lstStyle/>
          <a:p>
            <a:pPr algn="l">
              <a:spcAft>
                <a:spcPts val="400"/>
              </a:spcAft>
            </a:pPr>
            <a:r>
              <a:rPr sz="1200" b="0">
                <a:solidFill>
                  <a:srgbClr val="333333"/>
                </a:solidFill>
              </a:rPr>
              <a:t>Prefer shared platforms and reusable patterns over one-off solutions.</a:t>
            </a:r>
          </a:p>
        </p:txBody>
      </p:sp>
      <p:sp>
        <p:nvSpPr>
          <p:cNvPr id="28" name="Rectangle 27"/>
          <p:cNvSpPr/>
          <p:nvPr/>
        </p:nvSpPr>
        <p:spPr>
          <a:xfrm>
            <a:off x="9710928" y="1325880"/>
            <a:ext cx="2231136" cy="9144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756648" y="1371600"/>
            <a:ext cx="2139696" cy="502920"/>
          </a:xfrm>
          <a:prstGeom prst="rect">
            <a:avLst/>
          </a:prstGeom>
          <a:noFill/>
        </p:spPr>
        <p:txBody>
          <a:bodyPr wrap="square">
            <a:spAutoFit/>
          </a:bodyPr>
          <a:lstStyle/>
          <a:p>
            <a:pPr algn="ctr"/>
            <a:r>
              <a:rPr sz="3000" b="0" i="0">
                <a:solidFill>
                  <a:srgbClr val="E0A800"/>
                </a:solidFill>
              </a:rPr>
              <a:t>💡</a:t>
            </a:r>
          </a:p>
        </p:txBody>
      </p:sp>
      <p:sp>
        <p:nvSpPr>
          <p:cNvPr id="30" name="TextBox 29"/>
          <p:cNvSpPr txBox="1"/>
          <p:nvPr/>
        </p:nvSpPr>
        <p:spPr>
          <a:xfrm>
            <a:off x="9756648" y="1828800"/>
            <a:ext cx="2139696" cy="384048"/>
          </a:xfrm>
          <a:prstGeom prst="rect">
            <a:avLst/>
          </a:prstGeom>
          <a:noFill/>
        </p:spPr>
        <p:txBody>
          <a:bodyPr wrap="square">
            <a:spAutoFit/>
          </a:bodyPr>
          <a:lstStyle/>
          <a:p>
            <a:pPr algn="ctr"/>
            <a:r>
              <a:rPr sz="1100" b="1" i="0">
                <a:solidFill>
                  <a:srgbClr val="FFFFFF"/>
                </a:solidFill>
              </a:rPr>
              <a:t>Innovation
with control</a:t>
            </a:r>
          </a:p>
        </p:txBody>
      </p:sp>
      <p:sp>
        <p:nvSpPr>
          <p:cNvPr id="31" name="Rectangle 30"/>
          <p:cNvSpPr/>
          <p:nvPr/>
        </p:nvSpPr>
        <p:spPr>
          <a:xfrm>
            <a:off x="9710928" y="2240280"/>
            <a:ext cx="2231136" cy="347472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20656" y="2313432"/>
            <a:ext cx="2011680" cy="3337560"/>
          </a:xfrm>
          <a:prstGeom prst="rect">
            <a:avLst/>
          </a:prstGeom>
          <a:noFill/>
        </p:spPr>
        <p:txBody>
          <a:bodyPr wrap="square">
            <a:spAutoFit/>
          </a:bodyPr>
          <a:lstStyle/>
          <a:p>
            <a:pPr algn="l">
              <a:spcAft>
                <a:spcPts val="400"/>
              </a:spcAft>
            </a:pPr>
            <a:r>
              <a:rPr sz="1200" b="0">
                <a:solidFill>
                  <a:srgbClr val="333333"/>
                </a:solidFill>
              </a:rPr>
              <a:t>Encourage experimentation within clear security, data, and regulatory guardrails.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9728"/>
            <a:ext cx="11430000" cy="685800"/>
          </a:xfrm>
          <a:prstGeom prst="rect">
            <a:avLst/>
          </a:prstGeom>
          <a:noFill/>
        </p:spPr>
        <p:txBody>
          <a:bodyPr wrap="square">
            <a:spAutoFit/>
          </a:bodyPr>
          <a:lstStyle/>
          <a:p>
            <a:pPr algn="l"/>
            <a:r>
              <a:rPr sz="2600" b="1" i="0">
                <a:solidFill>
                  <a:srgbClr val="FFFFFF"/>
                </a:solidFill>
              </a:rPr>
              <a:t>Target Architecture Office Structure</a:t>
            </a:r>
          </a:p>
        </p:txBody>
      </p:sp>
      <p:sp>
        <p:nvSpPr>
          <p:cNvPr id="5" name="Rectangle 4"/>
          <p:cNvSpPr/>
          <p:nvPr/>
        </p:nvSpPr>
        <p:spPr>
          <a:xfrm>
            <a:off x="0" y="105156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430000" cy="274320"/>
          </a:xfrm>
          <a:prstGeom prst="rect">
            <a:avLst/>
          </a:prstGeom>
          <a:noFill/>
        </p:spPr>
        <p:txBody>
          <a:bodyPr wrap="square">
            <a:spAutoFit/>
          </a:bodyPr>
          <a:lstStyle/>
          <a:p>
            <a:pPr algn="ctr"/>
            <a:r>
              <a:rPr sz="1100" b="0" i="0">
                <a:solidFill>
                  <a:srgbClr val="D6E8F7"/>
                </a:solidFill>
              </a:rPr>
              <a:t>One central architecture authority with specialist depth across key disciplines</a:t>
            </a:r>
          </a:p>
        </p:txBody>
      </p:sp>
      <p:sp>
        <p:nvSpPr>
          <p:cNvPr id="8" name="Rectangle 7"/>
          <p:cNvSpPr/>
          <p:nvPr/>
        </p:nvSpPr>
        <p:spPr>
          <a:xfrm>
            <a:off x="4754880" y="1371600"/>
            <a:ext cx="2651760" cy="594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46320" y="1463040"/>
            <a:ext cx="2468879" cy="411480"/>
          </a:xfrm>
          <a:prstGeom prst="rect">
            <a:avLst/>
          </a:prstGeom>
          <a:noFill/>
        </p:spPr>
        <p:txBody>
          <a:bodyPr wrap="square">
            <a:spAutoFit/>
          </a:bodyPr>
          <a:lstStyle/>
          <a:p>
            <a:pPr algn="ctr"/>
            <a:r>
              <a:rPr sz="1600" b="1" i="0">
                <a:solidFill>
                  <a:srgbClr val="E0A800"/>
                </a:solidFill>
              </a:rPr>
              <a:t>Chief Architect</a:t>
            </a:r>
          </a:p>
        </p:txBody>
      </p:sp>
      <p:sp>
        <p:nvSpPr>
          <p:cNvPr id="10" name="Rectangle 9"/>
          <p:cNvSpPr/>
          <p:nvPr/>
        </p:nvSpPr>
        <p:spPr>
          <a:xfrm>
            <a:off x="6062472" y="1965960"/>
            <a:ext cx="64008" cy="365760"/>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331720"/>
            <a:ext cx="11338560" cy="64008"/>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05701" y="2441448"/>
            <a:ext cx="54864" cy="320040"/>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2761488"/>
            <a:ext cx="1551867" cy="10972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064" y="2825496"/>
            <a:ext cx="1442139" cy="960120"/>
          </a:xfrm>
          <a:prstGeom prst="rect">
            <a:avLst/>
          </a:prstGeom>
          <a:noFill/>
        </p:spPr>
        <p:txBody>
          <a:bodyPr wrap="square">
            <a:spAutoFit/>
          </a:bodyPr>
          <a:lstStyle/>
          <a:p>
            <a:pPr algn="ctr"/>
            <a:r>
              <a:rPr sz="1000" b="1" i="0">
                <a:solidFill>
                  <a:srgbClr val="FFFFFF"/>
                </a:solidFill>
              </a:rPr>
              <a:t>Architecture
Governance</a:t>
            </a:r>
          </a:p>
        </p:txBody>
      </p:sp>
      <p:sp>
        <p:nvSpPr>
          <p:cNvPr id="15" name="Rectangle 14"/>
          <p:cNvSpPr/>
          <p:nvPr/>
        </p:nvSpPr>
        <p:spPr>
          <a:xfrm>
            <a:off x="2812433" y="2441448"/>
            <a:ext cx="54864" cy="320040"/>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63931" y="2761488"/>
            <a:ext cx="1551867" cy="10972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118795" y="2825496"/>
            <a:ext cx="1442139" cy="960120"/>
          </a:xfrm>
          <a:prstGeom prst="rect">
            <a:avLst/>
          </a:prstGeom>
          <a:noFill/>
        </p:spPr>
        <p:txBody>
          <a:bodyPr wrap="square">
            <a:spAutoFit/>
          </a:bodyPr>
          <a:lstStyle/>
          <a:p>
            <a:pPr algn="ctr"/>
            <a:r>
              <a:rPr sz="1000" b="1" i="0">
                <a:solidFill>
                  <a:srgbClr val="FFFFFF"/>
                </a:solidFill>
              </a:rPr>
              <a:t>Enterprise &amp;
Business Architecture</a:t>
            </a:r>
          </a:p>
        </p:txBody>
      </p:sp>
      <p:sp>
        <p:nvSpPr>
          <p:cNvPr id="18" name="Rectangle 17"/>
          <p:cNvSpPr/>
          <p:nvPr/>
        </p:nvSpPr>
        <p:spPr>
          <a:xfrm>
            <a:off x="4419164" y="2441448"/>
            <a:ext cx="54864" cy="320040"/>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0662" y="2761488"/>
            <a:ext cx="1551867" cy="10972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25526" y="2825496"/>
            <a:ext cx="1442139" cy="960120"/>
          </a:xfrm>
          <a:prstGeom prst="rect">
            <a:avLst/>
          </a:prstGeom>
          <a:noFill/>
        </p:spPr>
        <p:txBody>
          <a:bodyPr wrap="square">
            <a:spAutoFit/>
          </a:bodyPr>
          <a:lstStyle/>
          <a:p>
            <a:pPr algn="ctr"/>
            <a:r>
              <a:rPr sz="1000" b="1" i="0">
                <a:solidFill>
                  <a:srgbClr val="FFFFFF"/>
                </a:solidFill>
              </a:rPr>
              <a:t>Head of Solution
Architecture</a:t>
            </a:r>
          </a:p>
        </p:txBody>
      </p:sp>
      <p:sp>
        <p:nvSpPr>
          <p:cNvPr id="21" name="Rectangle 20"/>
          <p:cNvSpPr/>
          <p:nvPr/>
        </p:nvSpPr>
        <p:spPr>
          <a:xfrm>
            <a:off x="6025896" y="2441448"/>
            <a:ext cx="54864" cy="320040"/>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77394" y="2761488"/>
            <a:ext cx="1551867" cy="10972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32258" y="2825496"/>
            <a:ext cx="1442139" cy="960120"/>
          </a:xfrm>
          <a:prstGeom prst="rect">
            <a:avLst/>
          </a:prstGeom>
          <a:noFill/>
        </p:spPr>
        <p:txBody>
          <a:bodyPr wrap="square">
            <a:spAutoFit/>
          </a:bodyPr>
          <a:lstStyle/>
          <a:p>
            <a:pPr algn="ctr"/>
            <a:r>
              <a:rPr sz="1000" b="1" i="0">
                <a:solidFill>
                  <a:srgbClr val="FFFFFF"/>
                </a:solidFill>
              </a:rPr>
              <a:t>Head of Technology /
Platform Architecture</a:t>
            </a:r>
          </a:p>
        </p:txBody>
      </p:sp>
      <p:sp>
        <p:nvSpPr>
          <p:cNvPr id="24" name="Rectangle 23"/>
          <p:cNvSpPr/>
          <p:nvPr/>
        </p:nvSpPr>
        <p:spPr>
          <a:xfrm>
            <a:off x="7632627" y="2441448"/>
            <a:ext cx="54864" cy="320040"/>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884125" y="2761488"/>
            <a:ext cx="1551867" cy="10972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38989" y="2825496"/>
            <a:ext cx="1442139" cy="960120"/>
          </a:xfrm>
          <a:prstGeom prst="rect">
            <a:avLst/>
          </a:prstGeom>
          <a:noFill/>
        </p:spPr>
        <p:txBody>
          <a:bodyPr wrap="square">
            <a:spAutoFit/>
          </a:bodyPr>
          <a:lstStyle/>
          <a:p>
            <a:pPr algn="ctr"/>
            <a:r>
              <a:rPr sz="1000" b="1" i="0">
                <a:solidFill>
                  <a:srgbClr val="FFFFFF"/>
                </a:solidFill>
              </a:rPr>
              <a:t>Head of Security
Architecture</a:t>
            </a:r>
          </a:p>
        </p:txBody>
      </p:sp>
      <p:sp>
        <p:nvSpPr>
          <p:cNvPr id="27" name="Rectangle 26"/>
          <p:cNvSpPr/>
          <p:nvPr/>
        </p:nvSpPr>
        <p:spPr>
          <a:xfrm>
            <a:off x="9239358" y="2441448"/>
            <a:ext cx="54864" cy="320040"/>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490857" y="2761488"/>
            <a:ext cx="1551867" cy="10972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45721" y="2825496"/>
            <a:ext cx="1442139" cy="960120"/>
          </a:xfrm>
          <a:prstGeom prst="rect">
            <a:avLst/>
          </a:prstGeom>
          <a:noFill/>
        </p:spPr>
        <p:txBody>
          <a:bodyPr wrap="square">
            <a:spAutoFit/>
          </a:bodyPr>
          <a:lstStyle/>
          <a:p>
            <a:pPr algn="ctr"/>
            <a:r>
              <a:rPr sz="1000" b="1" i="0">
                <a:solidFill>
                  <a:srgbClr val="FFFFFF"/>
                </a:solidFill>
              </a:rPr>
              <a:t>Head of Data
Architecture</a:t>
            </a:r>
          </a:p>
        </p:txBody>
      </p:sp>
      <p:sp>
        <p:nvSpPr>
          <p:cNvPr id="30" name="Rectangle 29"/>
          <p:cNvSpPr/>
          <p:nvPr/>
        </p:nvSpPr>
        <p:spPr>
          <a:xfrm>
            <a:off x="10846090" y="2441448"/>
            <a:ext cx="54864" cy="320040"/>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0097588" y="2761488"/>
            <a:ext cx="1551867" cy="1097280"/>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52452" y="2825496"/>
            <a:ext cx="1442139" cy="960120"/>
          </a:xfrm>
          <a:prstGeom prst="rect">
            <a:avLst/>
          </a:prstGeom>
          <a:noFill/>
        </p:spPr>
        <p:txBody>
          <a:bodyPr wrap="square">
            <a:spAutoFit/>
          </a:bodyPr>
          <a:lstStyle/>
          <a:p>
            <a:pPr algn="ctr"/>
            <a:r>
              <a:rPr sz="1000" b="1" i="0">
                <a:solidFill>
                  <a:srgbClr val="0D2B55"/>
                </a:solidFill>
              </a:rPr>
              <a:t>Emerging Technology &amp;
Innovation Architecture</a:t>
            </a:r>
          </a:p>
        </p:txBody>
      </p:sp>
      <p:sp>
        <p:nvSpPr>
          <p:cNvPr id="33" name="Rectangle 32"/>
          <p:cNvSpPr/>
          <p:nvPr/>
        </p:nvSpPr>
        <p:spPr>
          <a:xfrm>
            <a:off x="10963656" y="2761488"/>
            <a:ext cx="658368" cy="256032"/>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981944" y="2779776"/>
            <a:ext cx="621792" cy="219456"/>
          </a:xfrm>
          <a:prstGeom prst="rect">
            <a:avLst/>
          </a:prstGeom>
          <a:noFill/>
        </p:spPr>
        <p:txBody>
          <a:bodyPr wrap="square">
            <a:spAutoFit/>
          </a:bodyPr>
          <a:lstStyle/>
          <a:p>
            <a:pPr algn="ctr"/>
            <a:r>
              <a:rPr sz="800" b="1" i="0">
                <a:solidFill>
                  <a:srgbClr val="FFFFFF"/>
                </a:solidFill>
              </a:rPr>
              <a:t>NEW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9728"/>
            <a:ext cx="11430000" cy="685800"/>
          </a:xfrm>
          <a:prstGeom prst="rect">
            <a:avLst/>
          </a:prstGeom>
          <a:noFill/>
        </p:spPr>
        <p:txBody>
          <a:bodyPr wrap="square">
            <a:spAutoFit/>
          </a:bodyPr>
          <a:lstStyle/>
          <a:p>
            <a:pPr algn="l"/>
            <a:r>
              <a:rPr sz="2600" b="1" i="0">
                <a:solidFill>
                  <a:srgbClr val="FFFFFF"/>
                </a:solidFill>
              </a:rPr>
              <a:t>Operating Model: Central Functional Reporting, Local Deployment</a:t>
            </a:r>
          </a:p>
        </p:txBody>
      </p:sp>
      <p:sp>
        <p:nvSpPr>
          <p:cNvPr id="5" name="Rectangle 4"/>
          <p:cNvSpPr/>
          <p:nvPr/>
        </p:nvSpPr>
        <p:spPr>
          <a:xfrm>
            <a:off x="0" y="105156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430000" cy="274320"/>
          </a:xfrm>
          <a:prstGeom prst="rect">
            <a:avLst/>
          </a:prstGeom>
          <a:noFill/>
        </p:spPr>
        <p:txBody>
          <a:bodyPr wrap="square">
            <a:spAutoFit/>
          </a:bodyPr>
          <a:lstStyle/>
          <a:p>
            <a:pPr algn="ctr"/>
            <a:r>
              <a:rPr sz="1100" b="0" i="0">
                <a:solidFill>
                  <a:srgbClr val="D6E8F7"/>
                </a:solidFill>
              </a:rPr>
              <a:t>How the Matrix Model Works</a:t>
            </a:r>
          </a:p>
        </p:txBody>
      </p:sp>
      <p:sp>
        <p:nvSpPr>
          <p:cNvPr id="8" name="Rectangle 7"/>
          <p:cNvSpPr/>
          <p:nvPr/>
        </p:nvSpPr>
        <p:spPr>
          <a:xfrm>
            <a:off x="5120640" y="3081528"/>
            <a:ext cx="1920240" cy="1152144"/>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66360" y="3172968"/>
            <a:ext cx="1828800" cy="960120"/>
          </a:xfrm>
          <a:prstGeom prst="rect">
            <a:avLst/>
          </a:prstGeom>
          <a:noFill/>
        </p:spPr>
        <p:txBody>
          <a:bodyPr wrap="square">
            <a:spAutoFit/>
          </a:bodyPr>
          <a:lstStyle/>
          <a:p>
            <a:pPr algn="ctr"/>
            <a:r>
              <a:rPr sz="1200" b="1" i="0">
                <a:solidFill>
                  <a:srgbClr val="FFFFFF"/>
                </a:solidFill>
              </a:rPr>
              <a:t>Architecture
Office (Hub)</a:t>
            </a:r>
          </a:p>
        </p:txBody>
      </p:sp>
      <p:sp>
        <p:nvSpPr>
          <p:cNvPr id="10" name="Rectangle 9"/>
          <p:cNvSpPr/>
          <p:nvPr/>
        </p:nvSpPr>
        <p:spPr>
          <a:xfrm>
            <a:off x="365760" y="3108960"/>
            <a:ext cx="3200400" cy="1097280"/>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246120"/>
            <a:ext cx="3017520" cy="822959"/>
          </a:xfrm>
          <a:prstGeom prst="rect">
            <a:avLst/>
          </a:prstGeom>
          <a:noFill/>
        </p:spPr>
        <p:txBody>
          <a:bodyPr wrap="square">
            <a:spAutoFit/>
          </a:bodyPr>
          <a:lstStyle/>
          <a:p>
            <a:pPr algn="ctr"/>
            <a:r>
              <a:rPr sz="1200" b="1" i="0">
                <a:solidFill>
                  <a:srgbClr val="FFFFFF"/>
                </a:solidFill>
              </a:rPr>
              <a:t>Digital Delivery
Center</a:t>
            </a:r>
          </a:p>
        </p:txBody>
      </p:sp>
      <p:sp>
        <p:nvSpPr>
          <p:cNvPr id="12" name="TextBox 11"/>
          <p:cNvSpPr txBox="1"/>
          <p:nvPr/>
        </p:nvSpPr>
        <p:spPr>
          <a:xfrm>
            <a:off x="457200" y="3840479"/>
            <a:ext cx="3017520" cy="347472"/>
          </a:xfrm>
          <a:prstGeom prst="rect">
            <a:avLst/>
          </a:prstGeom>
          <a:noFill/>
        </p:spPr>
        <p:txBody>
          <a:bodyPr wrap="square">
            <a:spAutoFit/>
          </a:bodyPr>
          <a:lstStyle/>
          <a:p>
            <a:pPr algn="ctr"/>
            <a:r>
              <a:rPr sz="900" b="0" i="0">
                <a:solidFill>
                  <a:srgbClr val="D6E8F7"/>
                </a:solidFill>
              </a:rPr>
              <a:t>↔ Embedded digital architects</a:t>
            </a:r>
          </a:p>
        </p:txBody>
      </p:sp>
      <p:sp>
        <p:nvSpPr>
          <p:cNvPr id="13" name="Rectangle 12"/>
          <p:cNvSpPr/>
          <p:nvPr/>
        </p:nvSpPr>
        <p:spPr>
          <a:xfrm>
            <a:off x="8641080" y="3108960"/>
            <a:ext cx="3154680" cy="1097280"/>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32519" y="3246120"/>
            <a:ext cx="2971800" cy="822959"/>
          </a:xfrm>
          <a:prstGeom prst="rect">
            <a:avLst/>
          </a:prstGeom>
          <a:noFill/>
        </p:spPr>
        <p:txBody>
          <a:bodyPr wrap="square">
            <a:spAutoFit/>
          </a:bodyPr>
          <a:lstStyle/>
          <a:p>
            <a:pPr algn="ctr"/>
            <a:r>
              <a:rPr sz="1200" b="1" i="0">
                <a:solidFill>
                  <a:srgbClr val="FFFFFF"/>
                </a:solidFill>
              </a:rPr>
              <a:t>Core / Payments
Delivery</a:t>
            </a:r>
          </a:p>
        </p:txBody>
      </p:sp>
      <p:sp>
        <p:nvSpPr>
          <p:cNvPr id="15" name="TextBox 14"/>
          <p:cNvSpPr txBox="1"/>
          <p:nvPr/>
        </p:nvSpPr>
        <p:spPr>
          <a:xfrm>
            <a:off x="8732519" y="3840479"/>
            <a:ext cx="2971800" cy="347472"/>
          </a:xfrm>
          <a:prstGeom prst="rect">
            <a:avLst/>
          </a:prstGeom>
          <a:noFill/>
        </p:spPr>
        <p:txBody>
          <a:bodyPr wrap="square">
            <a:spAutoFit/>
          </a:bodyPr>
          <a:lstStyle/>
          <a:p>
            <a:pPr algn="ctr"/>
            <a:r>
              <a:rPr sz="900" b="0" i="0">
                <a:solidFill>
                  <a:srgbClr val="D6E8F7"/>
                </a:solidFill>
              </a:rPr>
              <a:t>↔ Embedded core/payments architects</a:t>
            </a:r>
          </a:p>
        </p:txBody>
      </p:sp>
      <p:sp>
        <p:nvSpPr>
          <p:cNvPr id="16" name="Rectangle 15"/>
          <p:cNvSpPr/>
          <p:nvPr/>
        </p:nvSpPr>
        <p:spPr>
          <a:xfrm>
            <a:off x="4206240" y="1188720"/>
            <a:ext cx="3474720" cy="1005840"/>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79" y="1325880"/>
            <a:ext cx="3291839" cy="731520"/>
          </a:xfrm>
          <a:prstGeom prst="rect">
            <a:avLst/>
          </a:prstGeom>
          <a:noFill/>
        </p:spPr>
        <p:txBody>
          <a:bodyPr wrap="square">
            <a:spAutoFit/>
          </a:bodyPr>
          <a:lstStyle/>
          <a:p>
            <a:pPr algn="ctr"/>
            <a:r>
              <a:rPr sz="1200" b="1" i="0">
                <a:solidFill>
                  <a:srgbClr val="FFFFFF"/>
                </a:solidFill>
              </a:rPr>
              <a:t>EIM / Data
Teams</a:t>
            </a:r>
          </a:p>
        </p:txBody>
      </p:sp>
      <p:sp>
        <p:nvSpPr>
          <p:cNvPr id="18" name="TextBox 17"/>
          <p:cNvSpPr txBox="1"/>
          <p:nvPr/>
        </p:nvSpPr>
        <p:spPr>
          <a:xfrm>
            <a:off x="4297679" y="1828800"/>
            <a:ext cx="3291839" cy="347472"/>
          </a:xfrm>
          <a:prstGeom prst="rect">
            <a:avLst/>
          </a:prstGeom>
          <a:noFill/>
        </p:spPr>
        <p:txBody>
          <a:bodyPr wrap="square">
            <a:spAutoFit/>
          </a:bodyPr>
          <a:lstStyle/>
          <a:p>
            <a:pPr algn="ctr"/>
            <a:r>
              <a:rPr sz="900" b="0" i="0">
                <a:solidFill>
                  <a:srgbClr val="D6E8F7"/>
                </a:solidFill>
              </a:rPr>
              <a:t>↔ Embedded data architects</a:t>
            </a:r>
          </a:p>
        </p:txBody>
      </p:sp>
      <p:sp>
        <p:nvSpPr>
          <p:cNvPr id="19" name="Rectangle 18"/>
          <p:cNvSpPr/>
          <p:nvPr/>
        </p:nvSpPr>
        <p:spPr>
          <a:xfrm>
            <a:off x="4206240" y="5349240"/>
            <a:ext cx="3474720" cy="960120"/>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7679" y="5486400"/>
            <a:ext cx="3291839" cy="685800"/>
          </a:xfrm>
          <a:prstGeom prst="rect">
            <a:avLst/>
          </a:prstGeom>
          <a:noFill/>
        </p:spPr>
        <p:txBody>
          <a:bodyPr wrap="square">
            <a:spAutoFit/>
          </a:bodyPr>
          <a:lstStyle/>
          <a:p>
            <a:pPr algn="ctr"/>
            <a:r>
              <a:rPr sz="1200" b="1" i="0">
                <a:solidFill>
                  <a:srgbClr val="FFFFFF"/>
                </a:solidFill>
              </a:rPr>
              <a:t>Infrastructure /
Platform Teams</a:t>
            </a:r>
          </a:p>
        </p:txBody>
      </p:sp>
      <p:sp>
        <p:nvSpPr>
          <p:cNvPr id="21" name="TextBox 20"/>
          <p:cNvSpPr txBox="1"/>
          <p:nvPr/>
        </p:nvSpPr>
        <p:spPr>
          <a:xfrm>
            <a:off x="4297679" y="5943599"/>
            <a:ext cx="3291839" cy="347472"/>
          </a:xfrm>
          <a:prstGeom prst="rect">
            <a:avLst/>
          </a:prstGeom>
          <a:noFill/>
        </p:spPr>
        <p:txBody>
          <a:bodyPr wrap="square">
            <a:spAutoFit/>
          </a:bodyPr>
          <a:lstStyle/>
          <a:p>
            <a:pPr algn="ctr"/>
            <a:r>
              <a:rPr sz="900" b="0" i="0">
                <a:solidFill>
                  <a:srgbClr val="D6E8F7"/>
                </a:solidFill>
              </a:rPr>
              <a:t>↔ Embedded platform architects</a:t>
            </a:r>
          </a:p>
        </p:txBody>
      </p:sp>
      <p:sp>
        <p:nvSpPr>
          <p:cNvPr id="22" name="Rectangle 21"/>
          <p:cNvSpPr/>
          <p:nvPr/>
        </p:nvSpPr>
        <p:spPr>
          <a:xfrm>
            <a:off x="274320" y="5989320"/>
            <a:ext cx="11612880" cy="438912"/>
          </a:xfrm>
          <a:prstGeom prst="rect">
            <a:avLst/>
          </a:prstGeom>
          <a:solidFill>
            <a:srgbClr val="D6E8F7"/>
          </a:solidFill>
          <a:ln w="19050">
            <a:solidFill>
              <a:srgbClr val="1A5F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79" y="6080759"/>
            <a:ext cx="11338559" cy="256031"/>
          </a:xfrm>
          <a:prstGeom prst="rect">
            <a:avLst/>
          </a:prstGeom>
          <a:noFill/>
        </p:spPr>
        <p:txBody>
          <a:bodyPr wrap="square">
            <a:spAutoFit/>
          </a:bodyPr>
          <a:lstStyle/>
          <a:p>
            <a:pPr algn="ctr"/>
            <a:r>
              <a:rPr sz="1300" b="1">
                <a:solidFill>
                  <a:srgbClr val="0D2B55"/>
                </a:solidFill>
              </a:rPr>
              <a:t>Not an ivory tower.  Not fragmented local architecture.</a:t>
            </a:r>
          </a:p>
        </p:txBody>
      </p:sp>
      <p:sp>
        <p:nvSpPr>
          <p:cNvPr id="24" name="TextBox 23"/>
          <p:cNvSpPr txBox="1"/>
          <p:nvPr/>
        </p:nvSpPr>
        <p:spPr>
          <a:xfrm>
            <a:off x="274320" y="1234440"/>
            <a:ext cx="5486400" cy="411480"/>
          </a:xfrm>
          <a:prstGeom prst="rect">
            <a:avLst/>
          </a:prstGeom>
          <a:noFill/>
        </p:spPr>
        <p:txBody>
          <a:bodyPr wrap="square">
            <a:spAutoFit/>
          </a:bodyPr>
          <a:lstStyle/>
          <a:p>
            <a:pPr algn="l"/>
            <a:r>
              <a:rPr sz="1000" b="1" i="0">
                <a:solidFill>
                  <a:srgbClr val="0D2B55"/>
                </a:solidFill>
              </a:rPr>
              <a:t>Central Architecture Office owns: standards, methods, quality, governance, capability, CoP</a:t>
            </a:r>
          </a:p>
        </p:txBody>
      </p:sp>
      <p:sp>
        <p:nvSpPr>
          <p:cNvPr id="25" name="TextBox 24"/>
          <p:cNvSpPr txBox="1"/>
          <p:nvPr/>
        </p:nvSpPr>
        <p:spPr>
          <a:xfrm>
            <a:off x="6400800" y="1234440"/>
            <a:ext cx="5486400" cy="411480"/>
          </a:xfrm>
          <a:prstGeom prst="rect">
            <a:avLst/>
          </a:prstGeom>
          <a:noFill/>
        </p:spPr>
        <p:txBody>
          <a:bodyPr wrap="square">
            <a:spAutoFit/>
          </a:bodyPr>
          <a:lstStyle/>
          <a:p>
            <a:pPr algn="l"/>
            <a:r>
              <a:rPr sz="1000" b="1" i="0">
                <a:solidFill>
                  <a:srgbClr val="1A5F9C"/>
                </a:solidFill>
              </a:rPr>
              <a:t>Host organizations own: day-to-day priorities, initiative support, delivery coordination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9728"/>
            <a:ext cx="11430000" cy="685800"/>
          </a:xfrm>
          <a:prstGeom prst="rect">
            <a:avLst/>
          </a:prstGeom>
          <a:noFill/>
        </p:spPr>
        <p:txBody>
          <a:bodyPr wrap="square">
            <a:spAutoFit/>
          </a:bodyPr>
          <a:lstStyle/>
          <a:p>
            <a:pPr algn="l"/>
            <a:r>
              <a:rPr sz="2600" b="1" i="0">
                <a:solidFill>
                  <a:srgbClr val="FFFFFF"/>
                </a:solidFill>
              </a:rPr>
              <a:t>Role Boundaries and Decision Rights</a:t>
            </a:r>
          </a:p>
        </p:txBody>
      </p:sp>
      <p:sp>
        <p:nvSpPr>
          <p:cNvPr id="5" name="Rectangle 4"/>
          <p:cNvSpPr/>
          <p:nvPr/>
        </p:nvSpPr>
        <p:spPr>
          <a:xfrm>
            <a:off x="0" y="105156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430000" cy="274320"/>
          </a:xfrm>
          <a:prstGeom prst="rect">
            <a:avLst/>
          </a:prstGeom>
          <a:noFill/>
        </p:spPr>
        <p:txBody>
          <a:bodyPr wrap="square">
            <a:spAutoFit/>
          </a:bodyPr>
          <a:lstStyle/>
          <a:p>
            <a:pPr algn="ctr"/>
            <a:r>
              <a:rPr sz="1100" b="0" i="0">
                <a:solidFill>
                  <a:srgbClr val="D6E8F7"/>
                </a:solidFill>
              </a:rPr>
              <a:t>Role Boundaries and Decision Rights</a:t>
            </a:r>
          </a:p>
        </p:txBody>
      </p:sp>
      <p:sp>
        <p:nvSpPr>
          <p:cNvPr id="8" name="Rectangle 7"/>
          <p:cNvSpPr/>
          <p:nvPr/>
        </p:nvSpPr>
        <p:spPr>
          <a:xfrm>
            <a:off x="228600" y="1325880"/>
            <a:ext cx="1647226" cy="685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4320" y="1371600"/>
            <a:ext cx="1555786" cy="594360"/>
          </a:xfrm>
          <a:prstGeom prst="rect">
            <a:avLst/>
          </a:prstGeom>
          <a:noFill/>
        </p:spPr>
        <p:txBody>
          <a:bodyPr wrap="square">
            <a:spAutoFit/>
          </a:bodyPr>
          <a:lstStyle/>
          <a:p>
            <a:pPr algn="ctr"/>
            <a:r>
              <a:rPr sz="900" b="1" i="0">
                <a:solidFill>
                  <a:srgbClr val="FFFFFF"/>
                </a:solidFill>
              </a:rPr>
              <a:t>Enterprise &amp;
Business Architecture</a:t>
            </a:r>
          </a:p>
        </p:txBody>
      </p:sp>
      <p:sp>
        <p:nvSpPr>
          <p:cNvPr id="10" name="Rectangle 9"/>
          <p:cNvSpPr/>
          <p:nvPr/>
        </p:nvSpPr>
        <p:spPr>
          <a:xfrm>
            <a:off x="228600" y="2011680"/>
            <a:ext cx="1647226" cy="42976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3464" y="2075688"/>
            <a:ext cx="1537498" cy="4160520"/>
          </a:xfrm>
          <a:prstGeom prst="rect">
            <a:avLst/>
          </a:prstGeom>
          <a:noFill/>
        </p:spPr>
        <p:txBody>
          <a:bodyPr wrap="square">
            <a:spAutoFit/>
          </a:bodyPr>
          <a:lstStyle/>
          <a:p>
            <a:pPr algn="l">
              <a:spcAft>
                <a:spcPts val="500"/>
              </a:spcAft>
            </a:pPr>
            <a:r>
              <a:rPr sz="900" b="0">
                <a:solidFill>
                  <a:srgbClr val="333333"/>
                </a:solidFill>
              </a:rPr>
              <a:t>• Target state</a:t>
            </a:r>
          </a:p>
          <a:p>
            <a:pPr algn="l">
              <a:spcAft>
                <a:spcPts val="500"/>
              </a:spcAft>
            </a:pPr>
            <a:r>
              <a:rPr sz="900" b="0">
                <a:solidFill>
                  <a:srgbClr val="333333"/>
                </a:solidFill>
              </a:rPr>
              <a:t>• Business capability alignment</a:t>
            </a:r>
          </a:p>
          <a:p>
            <a:pPr algn="l">
              <a:spcAft>
                <a:spcPts val="500"/>
              </a:spcAft>
            </a:pPr>
            <a:r>
              <a:rPr sz="900" b="0">
                <a:solidFill>
                  <a:srgbClr val="333333"/>
                </a:solidFill>
              </a:rPr>
              <a:t>• Roadmaps</a:t>
            </a:r>
          </a:p>
          <a:p>
            <a:pPr algn="l">
              <a:spcAft>
                <a:spcPts val="500"/>
              </a:spcAft>
            </a:pPr>
            <a:r>
              <a:rPr sz="900" b="0">
                <a:solidFill>
                  <a:srgbClr val="333333"/>
                </a:solidFill>
              </a:rPr>
              <a:t>• Domain boundaries</a:t>
            </a:r>
          </a:p>
        </p:txBody>
      </p:sp>
      <p:sp>
        <p:nvSpPr>
          <p:cNvPr id="12" name="Rectangle 11"/>
          <p:cNvSpPr/>
          <p:nvPr/>
        </p:nvSpPr>
        <p:spPr>
          <a:xfrm>
            <a:off x="1939834" y="1325880"/>
            <a:ext cx="1647226" cy="685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85554" y="1371600"/>
            <a:ext cx="1555786" cy="594360"/>
          </a:xfrm>
          <a:prstGeom prst="rect">
            <a:avLst/>
          </a:prstGeom>
          <a:noFill/>
        </p:spPr>
        <p:txBody>
          <a:bodyPr wrap="square">
            <a:spAutoFit/>
          </a:bodyPr>
          <a:lstStyle/>
          <a:p>
            <a:pPr algn="ctr"/>
            <a:r>
              <a:rPr sz="900" b="1" i="0">
                <a:solidFill>
                  <a:srgbClr val="FFFFFF"/>
                </a:solidFill>
              </a:rPr>
              <a:t>Solution
Architecture</a:t>
            </a:r>
          </a:p>
        </p:txBody>
      </p:sp>
      <p:sp>
        <p:nvSpPr>
          <p:cNvPr id="14" name="Rectangle 13"/>
          <p:cNvSpPr/>
          <p:nvPr/>
        </p:nvSpPr>
        <p:spPr>
          <a:xfrm>
            <a:off x="1939834" y="2011680"/>
            <a:ext cx="1647226" cy="42976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994698" y="2075688"/>
            <a:ext cx="1537498" cy="4160520"/>
          </a:xfrm>
          <a:prstGeom prst="rect">
            <a:avLst/>
          </a:prstGeom>
          <a:noFill/>
        </p:spPr>
        <p:txBody>
          <a:bodyPr wrap="square">
            <a:spAutoFit/>
          </a:bodyPr>
          <a:lstStyle/>
          <a:p>
            <a:pPr algn="l">
              <a:spcAft>
                <a:spcPts val="500"/>
              </a:spcAft>
            </a:pPr>
            <a:r>
              <a:rPr sz="900" b="0">
                <a:solidFill>
                  <a:srgbClr val="333333"/>
                </a:solidFill>
              </a:rPr>
              <a:t>• End-to-end solution design</a:t>
            </a:r>
          </a:p>
          <a:p>
            <a:pPr algn="l">
              <a:spcAft>
                <a:spcPts val="500"/>
              </a:spcAft>
            </a:pPr>
            <a:r>
              <a:rPr sz="900" b="0">
                <a:solidFill>
                  <a:srgbClr val="333333"/>
                </a:solidFill>
              </a:rPr>
              <a:t>• Transition architecture</a:t>
            </a:r>
          </a:p>
          <a:p>
            <a:pPr algn="l">
              <a:spcAft>
                <a:spcPts val="500"/>
              </a:spcAft>
            </a:pPr>
            <a:r>
              <a:rPr sz="900" b="0">
                <a:solidFill>
                  <a:srgbClr val="333333"/>
                </a:solidFill>
              </a:rPr>
              <a:t>• System interaction model</a:t>
            </a:r>
          </a:p>
        </p:txBody>
      </p:sp>
      <p:sp>
        <p:nvSpPr>
          <p:cNvPr id="16" name="Rectangle 15"/>
          <p:cNvSpPr/>
          <p:nvPr/>
        </p:nvSpPr>
        <p:spPr>
          <a:xfrm>
            <a:off x="3651068" y="1325880"/>
            <a:ext cx="1647226" cy="685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96788" y="1371600"/>
            <a:ext cx="1555786" cy="594360"/>
          </a:xfrm>
          <a:prstGeom prst="rect">
            <a:avLst/>
          </a:prstGeom>
          <a:noFill/>
        </p:spPr>
        <p:txBody>
          <a:bodyPr wrap="square">
            <a:spAutoFit/>
          </a:bodyPr>
          <a:lstStyle/>
          <a:p>
            <a:pPr algn="ctr"/>
            <a:r>
              <a:rPr sz="900" b="1" i="0">
                <a:solidFill>
                  <a:srgbClr val="FFFFFF"/>
                </a:solidFill>
              </a:rPr>
              <a:t>Technology /
Platform Architecture</a:t>
            </a:r>
          </a:p>
        </p:txBody>
      </p:sp>
      <p:sp>
        <p:nvSpPr>
          <p:cNvPr id="18" name="Rectangle 17"/>
          <p:cNvSpPr/>
          <p:nvPr/>
        </p:nvSpPr>
        <p:spPr>
          <a:xfrm>
            <a:off x="3651068" y="2011680"/>
            <a:ext cx="1647226" cy="42976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05932" y="2075688"/>
            <a:ext cx="1537498" cy="4160520"/>
          </a:xfrm>
          <a:prstGeom prst="rect">
            <a:avLst/>
          </a:prstGeom>
          <a:noFill/>
        </p:spPr>
        <p:txBody>
          <a:bodyPr wrap="square">
            <a:spAutoFit/>
          </a:bodyPr>
          <a:lstStyle/>
          <a:p>
            <a:pPr algn="l">
              <a:spcAft>
                <a:spcPts val="500"/>
              </a:spcAft>
            </a:pPr>
            <a:r>
              <a:rPr sz="900" b="0">
                <a:solidFill>
                  <a:srgbClr val="333333"/>
                </a:solidFill>
              </a:rPr>
              <a:t>• Shared platform standards</a:t>
            </a:r>
          </a:p>
          <a:p>
            <a:pPr algn="l">
              <a:spcAft>
                <a:spcPts val="500"/>
              </a:spcAft>
            </a:pPr>
            <a:r>
              <a:rPr sz="900" b="0">
                <a:solidFill>
                  <a:srgbClr val="333333"/>
                </a:solidFill>
              </a:rPr>
              <a:t>• Integration platform direction</a:t>
            </a:r>
          </a:p>
          <a:p>
            <a:pPr algn="l">
              <a:spcAft>
                <a:spcPts val="500"/>
              </a:spcAft>
            </a:pPr>
            <a:r>
              <a:rPr sz="900" b="0">
                <a:solidFill>
                  <a:srgbClr val="333333"/>
                </a:solidFill>
              </a:rPr>
              <a:t>• Runtime &amp; hosting patterns</a:t>
            </a:r>
          </a:p>
          <a:p>
            <a:pPr algn="l">
              <a:spcAft>
                <a:spcPts val="500"/>
              </a:spcAft>
            </a:pPr>
            <a:r>
              <a:rPr sz="900" b="0">
                <a:solidFill>
                  <a:srgbClr val="333333"/>
                </a:solidFill>
              </a:rPr>
              <a:t>• Resilience &amp; observability</a:t>
            </a:r>
          </a:p>
        </p:txBody>
      </p:sp>
      <p:sp>
        <p:nvSpPr>
          <p:cNvPr id="20" name="Rectangle 19"/>
          <p:cNvSpPr/>
          <p:nvPr/>
        </p:nvSpPr>
        <p:spPr>
          <a:xfrm>
            <a:off x="5362302" y="1325880"/>
            <a:ext cx="1647226" cy="685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08022" y="1371600"/>
            <a:ext cx="1555786" cy="594360"/>
          </a:xfrm>
          <a:prstGeom prst="rect">
            <a:avLst/>
          </a:prstGeom>
          <a:noFill/>
        </p:spPr>
        <p:txBody>
          <a:bodyPr wrap="square">
            <a:spAutoFit/>
          </a:bodyPr>
          <a:lstStyle/>
          <a:p>
            <a:pPr algn="ctr"/>
            <a:r>
              <a:rPr sz="900" b="1" i="0">
                <a:solidFill>
                  <a:srgbClr val="FFFFFF"/>
                </a:solidFill>
              </a:rPr>
              <a:t>Security
Architecture</a:t>
            </a:r>
          </a:p>
        </p:txBody>
      </p:sp>
      <p:sp>
        <p:nvSpPr>
          <p:cNvPr id="22" name="Rectangle 21"/>
          <p:cNvSpPr/>
          <p:nvPr/>
        </p:nvSpPr>
        <p:spPr>
          <a:xfrm>
            <a:off x="5362302" y="2011680"/>
            <a:ext cx="1647226" cy="42976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17166" y="2075688"/>
            <a:ext cx="1537498" cy="4160520"/>
          </a:xfrm>
          <a:prstGeom prst="rect">
            <a:avLst/>
          </a:prstGeom>
          <a:noFill/>
        </p:spPr>
        <p:txBody>
          <a:bodyPr wrap="square">
            <a:spAutoFit/>
          </a:bodyPr>
          <a:lstStyle/>
          <a:p>
            <a:pPr algn="l">
              <a:spcAft>
                <a:spcPts val="500"/>
              </a:spcAft>
            </a:pPr>
            <a:r>
              <a:rPr sz="900" b="0">
                <a:solidFill>
                  <a:srgbClr val="333333"/>
                </a:solidFill>
              </a:rPr>
              <a:t>• Secure-by-design patterns</a:t>
            </a:r>
          </a:p>
          <a:p>
            <a:pPr algn="l">
              <a:spcAft>
                <a:spcPts val="500"/>
              </a:spcAft>
            </a:pPr>
            <a:r>
              <a:rPr sz="900" b="0">
                <a:solidFill>
                  <a:srgbClr val="333333"/>
                </a:solidFill>
              </a:rPr>
              <a:t>• Architectural security controls</a:t>
            </a:r>
          </a:p>
          <a:p>
            <a:pPr algn="l">
              <a:spcAft>
                <a:spcPts val="500"/>
              </a:spcAft>
            </a:pPr>
            <a:r>
              <a:rPr sz="900" b="0">
                <a:solidFill>
                  <a:srgbClr val="333333"/>
                </a:solidFill>
              </a:rPr>
              <a:t>• Reference security architecture</a:t>
            </a:r>
          </a:p>
        </p:txBody>
      </p:sp>
      <p:sp>
        <p:nvSpPr>
          <p:cNvPr id="24" name="Rectangle 23"/>
          <p:cNvSpPr/>
          <p:nvPr/>
        </p:nvSpPr>
        <p:spPr>
          <a:xfrm>
            <a:off x="7073537" y="1325880"/>
            <a:ext cx="1647226" cy="685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19257" y="1371600"/>
            <a:ext cx="1555786" cy="594360"/>
          </a:xfrm>
          <a:prstGeom prst="rect">
            <a:avLst/>
          </a:prstGeom>
          <a:noFill/>
        </p:spPr>
        <p:txBody>
          <a:bodyPr wrap="square">
            <a:spAutoFit/>
          </a:bodyPr>
          <a:lstStyle/>
          <a:p>
            <a:pPr algn="ctr"/>
            <a:r>
              <a:rPr sz="900" b="1" i="0">
                <a:solidFill>
                  <a:srgbClr val="FFFFFF"/>
                </a:solidFill>
              </a:rPr>
              <a:t>Data
Architecture</a:t>
            </a:r>
          </a:p>
        </p:txBody>
      </p:sp>
      <p:sp>
        <p:nvSpPr>
          <p:cNvPr id="26" name="Rectangle 25"/>
          <p:cNvSpPr/>
          <p:nvPr/>
        </p:nvSpPr>
        <p:spPr>
          <a:xfrm>
            <a:off x="7073537" y="2011680"/>
            <a:ext cx="1647226" cy="42976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28401" y="2075688"/>
            <a:ext cx="1537498" cy="4160520"/>
          </a:xfrm>
          <a:prstGeom prst="rect">
            <a:avLst/>
          </a:prstGeom>
          <a:noFill/>
        </p:spPr>
        <p:txBody>
          <a:bodyPr wrap="square">
            <a:spAutoFit/>
          </a:bodyPr>
          <a:lstStyle/>
          <a:p>
            <a:pPr algn="l">
              <a:spcAft>
                <a:spcPts val="500"/>
              </a:spcAft>
            </a:pPr>
            <a:r>
              <a:rPr sz="900" b="0">
                <a:solidFill>
                  <a:srgbClr val="333333"/>
                </a:solidFill>
              </a:rPr>
              <a:t>• Enterprise information model</a:t>
            </a:r>
          </a:p>
          <a:p>
            <a:pPr algn="l">
              <a:spcAft>
                <a:spcPts val="500"/>
              </a:spcAft>
            </a:pPr>
            <a:r>
              <a:rPr sz="900" b="0">
                <a:solidFill>
                  <a:srgbClr val="333333"/>
                </a:solidFill>
              </a:rPr>
              <a:t>• Data domains</a:t>
            </a:r>
          </a:p>
          <a:p>
            <a:pPr algn="l">
              <a:spcAft>
                <a:spcPts val="500"/>
              </a:spcAft>
            </a:pPr>
            <a:r>
              <a:rPr sz="900" b="0">
                <a:solidFill>
                  <a:srgbClr val="333333"/>
                </a:solidFill>
              </a:rPr>
              <a:t>• Lineage &amp; traceability</a:t>
            </a:r>
          </a:p>
          <a:p>
            <a:pPr algn="l">
              <a:spcAft>
                <a:spcPts val="500"/>
              </a:spcAft>
            </a:pPr>
            <a:r>
              <a:rPr sz="900" b="0">
                <a:solidFill>
                  <a:srgbClr val="333333"/>
                </a:solidFill>
              </a:rPr>
              <a:t>• Data platform patterns</a:t>
            </a:r>
          </a:p>
        </p:txBody>
      </p:sp>
      <p:sp>
        <p:nvSpPr>
          <p:cNvPr id="28" name="Rectangle 27"/>
          <p:cNvSpPr/>
          <p:nvPr/>
        </p:nvSpPr>
        <p:spPr>
          <a:xfrm>
            <a:off x="8784771" y="1325880"/>
            <a:ext cx="1647226" cy="68580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30491" y="1371600"/>
            <a:ext cx="1555786" cy="594360"/>
          </a:xfrm>
          <a:prstGeom prst="rect">
            <a:avLst/>
          </a:prstGeom>
          <a:noFill/>
        </p:spPr>
        <p:txBody>
          <a:bodyPr wrap="square">
            <a:spAutoFit/>
          </a:bodyPr>
          <a:lstStyle/>
          <a:p>
            <a:pPr algn="ctr"/>
            <a:r>
              <a:rPr sz="900" b="1" i="0">
                <a:solidFill>
                  <a:srgbClr val="FFFFFF"/>
                </a:solidFill>
              </a:rPr>
              <a:t>Architecture
Governance</a:t>
            </a:r>
          </a:p>
        </p:txBody>
      </p:sp>
      <p:sp>
        <p:nvSpPr>
          <p:cNvPr id="30" name="Rectangle 29"/>
          <p:cNvSpPr/>
          <p:nvPr/>
        </p:nvSpPr>
        <p:spPr>
          <a:xfrm>
            <a:off x="8784771" y="2011680"/>
            <a:ext cx="1647226" cy="42976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39635" y="2075688"/>
            <a:ext cx="1537498" cy="4160520"/>
          </a:xfrm>
          <a:prstGeom prst="rect">
            <a:avLst/>
          </a:prstGeom>
          <a:noFill/>
        </p:spPr>
        <p:txBody>
          <a:bodyPr wrap="square">
            <a:spAutoFit/>
          </a:bodyPr>
          <a:lstStyle/>
          <a:p>
            <a:pPr algn="l">
              <a:spcAft>
                <a:spcPts val="500"/>
              </a:spcAft>
            </a:pPr>
            <a:r>
              <a:rPr sz="900" b="0">
                <a:solidFill>
                  <a:srgbClr val="333333"/>
                </a:solidFill>
              </a:rPr>
              <a:t>• Review forums</a:t>
            </a:r>
          </a:p>
          <a:p>
            <a:pPr algn="l">
              <a:spcAft>
                <a:spcPts val="500"/>
              </a:spcAft>
            </a:pPr>
            <a:r>
              <a:rPr sz="900" b="0">
                <a:solidFill>
                  <a:srgbClr val="333333"/>
                </a:solidFill>
              </a:rPr>
              <a:t>• Standards lifecycle</a:t>
            </a:r>
          </a:p>
          <a:p>
            <a:pPr algn="l">
              <a:spcAft>
                <a:spcPts val="500"/>
              </a:spcAft>
            </a:pPr>
            <a:r>
              <a:rPr sz="900" b="0">
                <a:solidFill>
                  <a:srgbClr val="333333"/>
                </a:solidFill>
              </a:rPr>
              <a:t>• Decision records</a:t>
            </a:r>
          </a:p>
          <a:p>
            <a:pPr algn="l">
              <a:spcAft>
                <a:spcPts val="500"/>
              </a:spcAft>
            </a:pPr>
            <a:r>
              <a:rPr sz="900" b="0">
                <a:solidFill>
                  <a:srgbClr val="333333"/>
                </a:solidFill>
              </a:rPr>
              <a:t>• Waivers &amp; exceptions</a:t>
            </a:r>
          </a:p>
        </p:txBody>
      </p:sp>
      <p:sp>
        <p:nvSpPr>
          <p:cNvPr id="32" name="Rectangle 31"/>
          <p:cNvSpPr/>
          <p:nvPr/>
        </p:nvSpPr>
        <p:spPr>
          <a:xfrm>
            <a:off x="10496005" y="1325880"/>
            <a:ext cx="1647226" cy="685800"/>
          </a:xfrm>
          <a:prstGeom prst="rect">
            <a:avLst/>
          </a:prstGeom>
          <a:solidFill>
            <a:srgbClr val="B0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41725" y="1371600"/>
            <a:ext cx="1555786" cy="594360"/>
          </a:xfrm>
          <a:prstGeom prst="rect">
            <a:avLst/>
          </a:prstGeom>
          <a:noFill/>
        </p:spPr>
        <p:txBody>
          <a:bodyPr wrap="square">
            <a:spAutoFit/>
          </a:bodyPr>
          <a:lstStyle/>
          <a:p>
            <a:pPr algn="ctr"/>
            <a:r>
              <a:rPr sz="900" b="1" i="0">
                <a:solidFill>
                  <a:srgbClr val="FFFFFF"/>
                </a:solidFill>
              </a:rPr>
              <a:t>Engineering /
Delivery</a:t>
            </a:r>
          </a:p>
        </p:txBody>
      </p:sp>
      <p:sp>
        <p:nvSpPr>
          <p:cNvPr id="34" name="Rectangle 33"/>
          <p:cNvSpPr/>
          <p:nvPr/>
        </p:nvSpPr>
        <p:spPr>
          <a:xfrm>
            <a:off x="10496005" y="2011680"/>
            <a:ext cx="1647226" cy="42976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50869" y="2075688"/>
            <a:ext cx="1537498" cy="4160520"/>
          </a:xfrm>
          <a:prstGeom prst="rect">
            <a:avLst/>
          </a:prstGeom>
          <a:noFill/>
        </p:spPr>
        <p:txBody>
          <a:bodyPr wrap="square">
            <a:spAutoFit/>
          </a:bodyPr>
          <a:lstStyle/>
          <a:p>
            <a:pPr algn="l">
              <a:spcAft>
                <a:spcPts val="500"/>
              </a:spcAft>
            </a:pPr>
            <a:r>
              <a:rPr sz="900" b="0">
                <a:solidFill>
                  <a:srgbClr val="333333"/>
                </a:solidFill>
              </a:rPr>
              <a:t>• Build, deploy, test, and run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9728"/>
            <a:ext cx="11430000" cy="685800"/>
          </a:xfrm>
          <a:prstGeom prst="rect">
            <a:avLst/>
          </a:prstGeom>
          <a:noFill/>
        </p:spPr>
        <p:txBody>
          <a:bodyPr wrap="square">
            <a:spAutoFit/>
          </a:bodyPr>
          <a:lstStyle/>
          <a:p>
            <a:pPr algn="l"/>
            <a:r>
              <a:rPr sz="2600" b="1" i="0">
                <a:solidFill>
                  <a:srgbClr val="FFFFFF"/>
                </a:solidFill>
              </a:rPr>
              <a:t>Clarifying Solution Architecture vs Integration / Platform Architecture</a:t>
            </a:r>
          </a:p>
        </p:txBody>
      </p:sp>
      <p:sp>
        <p:nvSpPr>
          <p:cNvPr id="5" name="Rectangle 4"/>
          <p:cNvSpPr/>
          <p:nvPr/>
        </p:nvSpPr>
        <p:spPr>
          <a:xfrm>
            <a:off x="0" y="105156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430000" cy="274320"/>
          </a:xfrm>
          <a:prstGeom prst="rect">
            <a:avLst/>
          </a:prstGeom>
          <a:noFill/>
        </p:spPr>
        <p:txBody>
          <a:bodyPr wrap="square">
            <a:spAutoFit/>
          </a:bodyPr>
          <a:lstStyle/>
          <a:p>
            <a:pPr algn="ctr"/>
            <a:r>
              <a:rPr sz="1100" b="0" i="0">
                <a:solidFill>
                  <a:srgbClr val="D6E8F7"/>
                </a:solidFill>
              </a:rPr>
              <a:t>Solution Architecture defines the need.  Platform Architecture defines the realization.</a:t>
            </a:r>
          </a:p>
        </p:txBody>
      </p:sp>
      <p:sp>
        <p:nvSpPr>
          <p:cNvPr id="8" name="Rectangle 7"/>
          <p:cNvSpPr/>
          <p:nvPr/>
        </p:nvSpPr>
        <p:spPr>
          <a:xfrm>
            <a:off x="365760" y="1417320"/>
            <a:ext cx="411480" cy="411480"/>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444752"/>
            <a:ext cx="320040" cy="347472"/>
          </a:xfrm>
          <a:prstGeom prst="rect">
            <a:avLst/>
          </a:prstGeom>
          <a:noFill/>
        </p:spPr>
        <p:txBody>
          <a:bodyPr wrap="square">
            <a:spAutoFit/>
          </a:bodyPr>
          <a:lstStyle/>
          <a:p>
            <a:pPr algn="ctr"/>
            <a:r>
              <a:rPr sz="1600" b="1" i="0">
                <a:solidFill>
                  <a:srgbClr val="0D2B55"/>
                </a:solidFill>
              </a:rPr>
              <a:t>1</a:t>
            </a:r>
          </a:p>
        </p:txBody>
      </p:sp>
      <p:sp>
        <p:nvSpPr>
          <p:cNvPr id="10" name="Rectangle 9"/>
          <p:cNvSpPr/>
          <p:nvPr/>
        </p:nvSpPr>
        <p:spPr>
          <a:xfrm>
            <a:off x="777240" y="1417320"/>
            <a:ext cx="3063239" cy="4114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463040"/>
            <a:ext cx="2971800" cy="320040"/>
          </a:xfrm>
          <a:prstGeom prst="rect">
            <a:avLst/>
          </a:prstGeom>
          <a:noFill/>
        </p:spPr>
        <p:txBody>
          <a:bodyPr wrap="square">
            <a:spAutoFit/>
          </a:bodyPr>
          <a:lstStyle/>
          <a:p>
            <a:pPr algn="l"/>
            <a:r>
              <a:rPr sz="1600" b="1" i="0">
                <a:solidFill>
                  <a:srgbClr val="FFFFFF"/>
                </a:solidFill>
              </a:rPr>
              <a:t>Need</a:t>
            </a:r>
          </a:p>
        </p:txBody>
      </p:sp>
      <p:sp>
        <p:nvSpPr>
          <p:cNvPr id="12" name="Rectangle 11"/>
          <p:cNvSpPr/>
          <p:nvPr/>
        </p:nvSpPr>
        <p:spPr>
          <a:xfrm>
            <a:off x="365760" y="1828800"/>
            <a:ext cx="3474720" cy="548640"/>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874519"/>
            <a:ext cx="3291839" cy="475488"/>
          </a:xfrm>
          <a:prstGeom prst="rect">
            <a:avLst/>
          </a:prstGeom>
          <a:noFill/>
        </p:spPr>
        <p:txBody>
          <a:bodyPr wrap="square">
            <a:spAutoFit/>
          </a:bodyPr>
          <a:lstStyle/>
          <a:p>
            <a:pPr algn="l"/>
            <a:r>
              <a:rPr sz="1300" b="1" i="0">
                <a:solidFill>
                  <a:srgbClr val="0D2B55"/>
                </a:solidFill>
              </a:rPr>
              <a:t>Solution
Architects</a:t>
            </a:r>
          </a:p>
        </p:txBody>
      </p:sp>
      <p:sp>
        <p:nvSpPr>
          <p:cNvPr id="14" name="Rectangle 13"/>
          <p:cNvSpPr/>
          <p:nvPr/>
        </p:nvSpPr>
        <p:spPr>
          <a:xfrm>
            <a:off x="365760" y="2377440"/>
            <a:ext cx="3474720" cy="31546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441448"/>
            <a:ext cx="3255263" cy="3017520"/>
          </a:xfrm>
          <a:prstGeom prst="rect">
            <a:avLst/>
          </a:prstGeom>
          <a:noFill/>
        </p:spPr>
        <p:txBody>
          <a:bodyPr wrap="square">
            <a:spAutoFit/>
          </a:bodyPr>
          <a:lstStyle/>
          <a:p>
            <a:pPr algn="l">
              <a:spcAft>
                <a:spcPts val="800"/>
              </a:spcAft>
            </a:pPr>
            <a:r>
              <a:rPr sz="1200" b="0">
                <a:solidFill>
                  <a:srgbClr val="333333"/>
                </a:solidFill>
              </a:rPr>
              <a:t>• Define what APIs &amp; interfaces are needed</a:t>
            </a:r>
          </a:p>
          <a:p>
            <a:pPr algn="l">
              <a:spcAft>
                <a:spcPts val="800"/>
              </a:spcAft>
            </a:pPr>
            <a:r>
              <a:rPr sz="1200" b="0">
                <a:solidFill>
                  <a:srgbClr val="333333"/>
                </a:solidFill>
              </a:rPr>
              <a:t>• Design end-to-end business solution flow</a:t>
            </a:r>
          </a:p>
          <a:p>
            <a:pPr algn="l">
              <a:spcAft>
                <a:spcPts val="800"/>
              </a:spcAft>
            </a:pPr>
            <a:r>
              <a:rPr sz="1200" b="0">
                <a:solidFill>
                  <a:srgbClr val="333333"/>
                </a:solidFill>
              </a:rPr>
              <a:t>• Determine system interaction needs</a:t>
            </a:r>
          </a:p>
        </p:txBody>
      </p:sp>
      <p:sp>
        <p:nvSpPr>
          <p:cNvPr id="16" name="Rectangle 15"/>
          <p:cNvSpPr/>
          <p:nvPr/>
        </p:nvSpPr>
        <p:spPr>
          <a:xfrm>
            <a:off x="3877056" y="3154680"/>
            <a:ext cx="274320" cy="73152"/>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0" y="3081528"/>
            <a:ext cx="228600" cy="228600"/>
          </a:xfrm>
          <a:prstGeom prst="rect">
            <a:avLst/>
          </a:prstGeom>
          <a:noFill/>
        </p:spPr>
        <p:txBody>
          <a:bodyPr wrap="square">
            <a:spAutoFit/>
          </a:bodyPr>
          <a:lstStyle/>
          <a:p>
            <a:pPr algn="l"/>
            <a:r>
              <a:rPr sz="1400" b="0" i="0">
                <a:solidFill>
                  <a:srgbClr val="1A5F9C"/>
                </a:solidFill>
              </a:rPr>
              <a:t>▶</a:t>
            </a:r>
          </a:p>
        </p:txBody>
      </p:sp>
      <p:sp>
        <p:nvSpPr>
          <p:cNvPr id="18" name="Rectangle 17"/>
          <p:cNvSpPr/>
          <p:nvPr/>
        </p:nvSpPr>
        <p:spPr>
          <a:xfrm>
            <a:off x="4187952" y="1417320"/>
            <a:ext cx="411480" cy="411480"/>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33672" y="1444752"/>
            <a:ext cx="320040" cy="347472"/>
          </a:xfrm>
          <a:prstGeom prst="rect">
            <a:avLst/>
          </a:prstGeom>
          <a:noFill/>
        </p:spPr>
        <p:txBody>
          <a:bodyPr wrap="square">
            <a:spAutoFit/>
          </a:bodyPr>
          <a:lstStyle/>
          <a:p>
            <a:pPr algn="ctr"/>
            <a:r>
              <a:rPr sz="1600" b="1" i="0">
                <a:solidFill>
                  <a:srgbClr val="0D2B55"/>
                </a:solidFill>
              </a:rPr>
              <a:t>2</a:t>
            </a:r>
          </a:p>
        </p:txBody>
      </p:sp>
      <p:sp>
        <p:nvSpPr>
          <p:cNvPr id="20" name="Rectangle 19"/>
          <p:cNvSpPr/>
          <p:nvPr/>
        </p:nvSpPr>
        <p:spPr>
          <a:xfrm>
            <a:off x="4599432" y="1417320"/>
            <a:ext cx="3063239" cy="411480"/>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45152" y="1463040"/>
            <a:ext cx="2971800" cy="320040"/>
          </a:xfrm>
          <a:prstGeom prst="rect">
            <a:avLst/>
          </a:prstGeom>
          <a:noFill/>
        </p:spPr>
        <p:txBody>
          <a:bodyPr wrap="square">
            <a:spAutoFit/>
          </a:bodyPr>
          <a:lstStyle/>
          <a:p>
            <a:pPr algn="l"/>
            <a:r>
              <a:rPr sz="1600" b="1" i="0">
                <a:solidFill>
                  <a:srgbClr val="FFFFFF"/>
                </a:solidFill>
              </a:rPr>
              <a:t>Realization</a:t>
            </a:r>
          </a:p>
        </p:txBody>
      </p:sp>
      <p:sp>
        <p:nvSpPr>
          <p:cNvPr id="22" name="Rectangle 21"/>
          <p:cNvSpPr/>
          <p:nvPr/>
        </p:nvSpPr>
        <p:spPr>
          <a:xfrm>
            <a:off x="4187952" y="1828800"/>
            <a:ext cx="3474720" cy="548640"/>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79392" y="1874519"/>
            <a:ext cx="3291839" cy="475488"/>
          </a:xfrm>
          <a:prstGeom prst="rect">
            <a:avLst/>
          </a:prstGeom>
          <a:noFill/>
        </p:spPr>
        <p:txBody>
          <a:bodyPr wrap="square">
            <a:spAutoFit/>
          </a:bodyPr>
          <a:lstStyle/>
          <a:p>
            <a:pPr algn="l"/>
            <a:r>
              <a:rPr sz="1300" b="1" i="0">
                <a:solidFill>
                  <a:srgbClr val="0D2B55"/>
                </a:solidFill>
              </a:rPr>
              <a:t>Integration /
Platform Architects</a:t>
            </a:r>
          </a:p>
        </p:txBody>
      </p:sp>
      <p:sp>
        <p:nvSpPr>
          <p:cNvPr id="24" name="Rectangle 23"/>
          <p:cNvSpPr/>
          <p:nvPr/>
        </p:nvSpPr>
        <p:spPr>
          <a:xfrm>
            <a:off x="4187952" y="2377440"/>
            <a:ext cx="3474720" cy="31546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97680" y="2441448"/>
            <a:ext cx="3255263" cy="3017520"/>
          </a:xfrm>
          <a:prstGeom prst="rect">
            <a:avLst/>
          </a:prstGeom>
          <a:noFill/>
        </p:spPr>
        <p:txBody>
          <a:bodyPr wrap="square">
            <a:spAutoFit/>
          </a:bodyPr>
          <a:lstStyle/>
          <a:p>
            <a:pPr algn="l">
              <a:spcAft>
                <a:spcPts val="800"/>
              </a:spcAft>
            </a:pPr>
            <a:r>
              <a:rPr sz="1200" b="0">
                <a:solidFill>
                  <a:srgbClr val="333333"/>
                </a:solidFill>
              </a:rPr>
              <a:t>• Define how APIs &amp; interfaces are realized</a:t>
            </a:r>
          </a:p>
          <a:p>
            <a:pPr algn="l">
              <a:spcAft>
                <a:spcPts val="800"/>
              </a:spcAft>
            </a:pPr>
            <a:r>
              <a:rPr sz="1200" b="0">
                <a:solidFill>
                  <a:srgbClr val="333333"/>
                </a:solidFill>
              </a:rPr>
              <a:t>• Select pattern on approved integration platform</a:t>
            </a:r>
          </a:p>
          <a:p>
            <a:pPr algn="l">
              <a:spcAft>
                <a:spcPts val="800"/>
              </a:spcAft>
            </a:pPr>
            <a:r>
              <a:rPr sz="1200" b="0">
                <a:solidFill>
                  <a:srgbClr val="333333"/>
                </a:solidFill>
              </a:rPr>
              <a:t>• Ensure platform, security &amp; resilience compliance</a:t>
            </a:r>
          </a:p>
        </p:txBody>
      </p:sp>
      <p:sp>
        <p:nvSpPr>
          <p:cNvPr id="26" name="Rectangle 25"/>
          <p:cNvSpPr/>
          <p:nvPr/>
        </p:nvSpPr>
        <p:spPr>
          <a:xfrm>
            <a:off x="7699247" y="3154680"/>
            <a:ext cx="274320" cy="73152"/>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45551" y="3081528"/>
            <a:ext cx="228600" cy="228600"/>
          </a:xfrm>
          <a:prstGeom prst="rect">
            <a:avLst/>
          </a:prstGeom>
          <a:noFill/>
        </p:spPr>
        <p:txBody>
          <a:bodyPr wrap="square">
            <a:spAutoFit/>
          </a:bodyPr>
          <a:lstStyle/>
          <a:p>
            <a:pPr algn="l"/>
            <a:r>
              <a:rPr sz="1400" b="0" i="0">
                <a:solidFill>
                  <a:srgbClr val="1A5F9C"/>
                </a:solidFill>
              </a:rPr>
              <a:t>▶</a:t>
            </a:r>
          </a:p>
        </p:txBody>
      </p:sp>
      <p:sp>
        <p:nvSpPr>
          <p:cNvPr id="28" name="Rectangle 27"/>
          <p:cNvSpPr/>
          <p:nvPr/>
        </p:nvSpPr>
        <p:spPr>
          <a:xfrm>
            <a:off x="8010144" y="1417320"/>
            <a:ext cx="411480" cy="411480"/>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55864" y="1444752"/>
            <a:ext cx="320040" cy="347472"/>
          </a:xfrm>
          <a:prstGeom prst="rect">
            <a:avLst/>
          </a:prstGeom>
          <a:noFill/>
        </p:spPr>
        <p:txBody>
          <a:bodyPr wrap="square">
            <a:spAutoFit/>
          </a:bodyPr>
          <a:lstStyle/>
          <a:p>
            <a:pPr algn="ctr"/>
            <a:r>
              <a:rPr sz="1600" b="1" i="0">
                <a:solidFill>
                  <a:srgbClr val="0D2B55"/>
                </a:solidFill>
              </a:rPr>
              <a:t>3</a:t>
            </a:r>
          </a:p>
        </p:txBody>
      </p:sp>
      <p:sp>
        <p:nvSpPr>
          <p:cNvPr id="30" name="Rectangle 29"/>
          <p:cNvSpPr/>
          <p:nvPr/>
        </p:nvSpPr>
        <p:spPr>
          <a:xfrm>
            <a:off x="8421624" y="1417320"/>
            <a:ext cx="3063239" cy="411480"/>
          </a:xfrm>
          <a:prstGeom prst="rect">
            <a:avLst/>
          </a:prstGeom>
          <a:solidFill>
            <a:srgbClr val="147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67344" y="1463040"/>
            <a:ext cx="2971800" cy="320040"/>
          </a:xfrm>
          <a:prstGeom prst="rect">
            <a:avLst/>
          </a:prstGeom>
          <a:noFill/>
        </p:spPr>
        <p:txBody>
          <a:bodyPr wrap="square">
            <a:spAutoFit/>
          </a:bodyPr>
          <a:lstStyle/>
          <a:p>
            <a:pPr algn="l"/>
            <a:r>
              <a:rPr sz="1600" b="1" i="0">
                <a:solidFill>
                  <a:srgbClr val="FFFFFF"/>
                </a:solidFill>
              </a:rPr>
              <a:t>Build</a:t>
            </a:r>
          </a:p>
        </p:txBody>
      </p:sp>
      <p:sp>
        <p:nvSpPr>
          <p:cNvPr id="32" name="Rectangle 31"/>
          <p:cNvSpPr/>
          <p:nvPr/>
        </p:nvSpPr>
        <p:spPr>
          <a:xfrm>
            <a:off x="8010144" y="1828800"/>
            <a:ext cx="3474720" cy="548640"/>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01583" y="1874519"/>
            <a:ext cx="3291839" cy="475488"/>
          </a:xfrm>
          <a:prstGeom prst="rect">
            <a:avLst/>
          </a:prstGeom>
          <a:noFill/>
        </p:spPr>
        <p:txBody>
          <a:bodyPr wrap="square">
            <a:spAutoFit/>
          </a:bodyPr>
          <a:lstStyle/>
          <a:p>
            <a:pPr algn="l"/>
            <a:r>
              <a:rPr sz="1300" b="1" i="0">
                <a:solidFill>
                  <a:srgbClr val="0D2B55"/>
                </a:solidFill>
              </a:rPr>
              <a:t>Engineering
Teams</a:t>
            </a:r>
          </a:p>
        </p:txBody>
      </p:sp>
      <p:sp>
        <p:nvSpPr>
          <p:cNvPr id="34" name="Rectangle 33"/>
          <p:cNvSpPr/>
          <p:nvPr/>
        </p:nvSpPr>
        <p:spPr>
          <a:xfrm>
            <a:off x="8010144" y="2377440"/>
            <a:ext cx="3474720" cy="31546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19871" y="2441448"/>
            <a:ext cx="3255263" cy="3017520"/>
          </a:xfrm>
          <a:prstGeom prst="rect">
            <a:avLst/>
          </a:prstGeom>
          <a:noFill/>
        </p:spPr>
        <p:txBody>
          <a:bodyPr wrap="square">
            <a:spAutoFit/>
          </a:bodyPr>
          <a:lstStyle/>
          <a:p>
            <a:pPr algn="l">
              <a:spcAft>
                <a:spcPts val="800"/>
              </a:spcAft>
            </a:pPr>
            <a:r>
              <a:rPr sz="1200" b="0">
                <a:solidFill>
                  <a:srgbClr val="333333"/>
                </a:solidFill>
              </a:rPr>
              <a:t>• Build and run APIs, interfaces,
and platform components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9728"/>
            <a:ext cx="11430000" cy="685800"/>
          </a:xfrm>
          <a:prstGeom prst="rect">
            <a:avLst/>
          </a:prstGeom>
          <a:noFill/>
        </p:spPr>
        <p:txBody>
          <a:bodyPr wrap="square">
            <a:spAutoFit/>
          </a:bodyPr>
          <a:lstStyle/>
          <a:p>
            <a:pPr algn="l"/>
            <a:r>
              <a:rPr sz="2600" b="1" i="0">
                <a:solidFill>
                  <a:srgbClr val="FFFFFF"/>
                </a:solidFill>
              </a:rPr>
              <a:t>New Capability: Emerging Technology &amp; Innovation Architecture</a:t>
            </a:r>
          </a:p>
        </p:txBody>
      </p:sp>
      <p:sp>
        <p:nvSpPr>
          <p:cNvPr id="5" name="Rectangle 4"/>
          <p:cNvSpPr/>
          <p:nvPr/>
        </p:nvSpPr>
        <p:spPr>
          <a:xfrm>
            <a:off x="0" y="105156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430000" cy="274320"/>
          </a:xfrm>
          <a:prstGeom prst="rect">
            <a:avLst/>
          </a:prstGeom>
          <a:noFill/>
        </p:spPr>
        <p:txBody>
          <a:bodyPr wrap="square">
            <a:spAutoFit/>
          </a:bodyPr>
          <a:lstStyle/>
          <a:p>
            <a:pPr algn="ctr"/>
            <a:r>
              <a:rPr sz="1100" b="0" i="0">
                <a:solidFill>
                  <a:srgbClr val="D6E8F7"/>
                </a:solidFill>
              </a:rPr>
              <a:t>New Capability: Emerging Technology &amp; Innovation Architecture</a:t>
            </a:r>
          </a:p>
        </p:txBody>
      </p:sp>
      <p:sp>
        <p:nvSpPr>
          <p:cNvPr id="8" name="Rectangle 7"/>
          <p:cNvSpPr/>
          <p:nvPr/>
        </p:nvSpPr>
        <p:spPr>
          <a:xfrm>
            <a:off x="274320" y="1325880"/>
            <a:ext cx="3474720" cy="64008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371600"/>
            <a:ext cx="3383280" cy="548640"/>
          </a:xfrm>
          <a:prstGeom prst="rect">
            <a:avLst/>
          </a:prstGeom>
          <a:noFill/>
        </p:spPr>
        <p:txBody>
          <a:bodyPr wrap="square">
            <a:spAutoFit/>
          </a:bodyPr>
          <a:lstStyle/>
          <a:p>
            <a:pPr algn="ctr"/>
            <a:r>
              <a:rPr sz="1500" b="1" i="0">
                <a:solidFill>
                  <a:srgbClr val="E0A800"/>
                </a:solidFill>
              </a:rPr>
              <a:t>Chief Architect</a:t>
            </a:r>
          </a:p>
        </p:txBody>
      </p:sp>
      <p:sp>
        <p:nvSpPr>
          <p:cNvPr id="10" name="Rectangle 9"/>
          <p:cNvSpPr/>
          <p:nvPr/>
        </p:nvSpPr>
        <p:spPr>
          <a:xfrm>
            <a:off x="1737360" y="1965960"/>
            <a:ext cx="64008" cy="320040"/>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2286000"/>
            <a:ext cx="3474720" cy="685800"/>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0040" y="2313432"/>
            <a:ext cx="3383280" cy="594360"/>
          </a:xfrm>
          <a:prstGeom prst="rect">
            <a:avLst/>
          </a:prstGeom>
          <a:noFill/>
        </p:spPr>
        <p:txBody>
          <a:bodyPr wrap="square">
            <a:spAutoFit/>
          </a:bodyPr>
          <a:lstStyle/>
          <a:p>
            <a:pPr algn="ctr"/>
            <a:r>
              <a:rPr sz="1200" b="1" i="0">
                <a:solidFill>
                  <a:srgbClr val="0D2B55"/>
                </a:solidFill>
              </a:rPr>
              <a:t>Emerging Technology &amp;
Innovation Architecture</a:t>
            </a:r>
          </a:p>
        </p:txBody>
      </p:sp>
      <p:sp>
        <p:nvSpPr>
          <p:cNvPr id="13" name="Rectangle 12"/>
          <p:cNvSpPr/>
          <p:nvPr/>
        </p:nvSpPr>
        <p:spPr>
          <a:xfrm>
            <a:off x="274320" y="2971800"/>
            <a:ext cx="3474720" cy="292608"/>
          </a:xfrm>
          <a:prstGeom prst="rect">
            <a:avLst/>
          </a:prstGeom>
          <a:solidFill>
            <a:srgbClr val="E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2990088"/>
            <a:ext cx="3383280" cy="256032"/>
          </a:xfrm>
          <a:prstGeom prst="rect">
            <a:avLst/>
          </a:prstGeom>
          <a:noFill/>
        </p:spPr>
        <p:txBody>
          <a:bodyPr wrap="square">
            <a:spAutoFit/>
          </a:bodyPr>
          <a:lstStyle/>
          <a:p>
            <a:pPr algn="ctr"/>
            <a:r>
              <a:rPr sz="1000" b="1" i="0">
                <a:solidFill>
                  <a:srgbClr val="FFFFFF"/>
                </a:solidFill>
              </a:rPr>
              <a:t>NEW CAPABILITY</a:t>
            </a:r>
          </a:p>
        </p:txBody>
      </p:sp>
      <p:sp>
        <p:nvSpPr>
          <p:cNvPr id="15" name="TextBox 14"/>
          <p:cNvSpPr txBox="1"/>
          <p:nvPr/>
        </p:nvSpPr>
        <p:spPr>
          <a:xfrm>
            <a:off x="4114800" y="1325880"/>
            <a:ext cx="7772400" cy="365760"/>
          </a:xfrm>
          <a:prstGeom prst="rect">
            <a:avLst/>
          </a:prstGeom>
          <a:noFill/>
        </p:spPr>
        <p:txBody>
          <a:bodyPr wrap="square">
            <a:spAutoFit/>
          </a:bodyPr>
          <a:lstStyle/>
          <a:p>
            <a:pPr algn="l"/>
            <a:r>
              <a:rPr sz="1400" b="1" i="0">
                <a:solidFill>
                  <a:srgbClr val="0D2B55"/>
                </a:solidFill>
              </a:rPr>
              <a:t>This capability will cover:</a:t>
            </a:r>
          </a:p>
        </p:txBody>
      </p:sp>
      <p:sp>
        <p:nvSpPr>
          <p:cNvPr id="16" name="TextBox 15"/>
          <p:cNvSpPr txBox="1"/>
          <p:nvPr/>
        </p:nvSpPr>
        <p:spPr>
          <a:xfrm>
            <a:off x="4114800" y="1691640"/>
            <a:ext cx="7772400" cy="3200400"/>
          </a:xfrm>
          <a:prstGeom prst="rect">
            <a:avLst/>
          </a:prstGeom>
          <a:noFill/>
        </p:spPr>
        <p:txBody>
          <a:bodyPr wrap="square">
            <a:spAutoFit/>
          </a:bodyPr>
          <a:lstStyle/>
          <a:p>
            <a:pPr algn="l">
              <a:spcAft>
                <a:spcPts val="1000"/>
              </a:spcAft>
            </a:pPr>
            <a:r>
              <a:rPr sz="1300" b="0">
                <a:solidFill>
                  <a:srgbClr val="333333"/>
                </a:solidFill>
              </a:rPr>
              <a:t>• Technology radar &amp; structured evaluation of new tools</a:t>
            </a:r>
          </a:p>
          <a:p>
            <a:pPr algn="l">
              <a:spcAft>
                <a:spcPts val="1000"/>
              </a:spcAft>
            </a:pPr>
            <a:r>
              <a:rPr sz="1300" b="0">
                <a:solidFill>
                  <a:srgbClr val="333333"/>
                </a:solidFill>
              </a:rPr>
              <a:t>• Controlled POCs and sandbox architecture</a:t>
            </a:r>
          </a:p>
          <a:p>
            <a:pPr algn="l">
              <a:spcAft>
                <a:spcPts val="1000"/>
              </a:spcAft>
            </a:pPr>
            <a:r>
              <a:rPr sz="1300" b="0">
                <a:solidFill>
                  <a:srgbClr val="333333"/>
                </a:solidFill>
              </a:rPr>
              <a:t>• AI agents &amp; GenAI-related architecture guardrails</a:t>
            </a:r>
          </a:p>
          <a:p>
            <a:pPr algn="l">
              <a:spcAft>
                <a:spcPts val="1000"/>
              </a:spcAft>
            </a:pPr>
            <a:r>
              <a:rPr sz="1300" b="0">
                <a:solidFill>
                  <a:srgbClr val="333333"/>
                </a:solidFill>
              </a:rPr>
              <a:t>• Architecture support for fintech &amp; ecosystem initiatives</a:t>
            </a:r>
          </a:p>
          <a:p>
            <a:pPr algn="l">
              <a:spcAft>
                <a:spcPts val="1000"/>
              </a:spcAft>
            </a:pPr>
            <a:r>
              <a:rPr sz="1300" b="0">
                <a:solidFill>
                  <a:srgbClr val="333333"/>
                </a:solidFill>
              </a:rPr>
              <a:t>• Technical sponsorship of hackathons &amp; innovation campaigns</a:t>
            </a:r>
          </a:p>
          <a:p>
            <a:pPr algn="l">
              <a:spcAft>
                <a:spcPts val="1000"/>
              </a:spcAft>
            </a:pPr>
            <a:r>
              <a:rPr sz="1300" b="0">
                <a:solidFill>
                  <a:srgbClr val="333333"/>
                </a:solidFill>
              </a:rPr>
              <a:t>• Path from idea → pilot → industrialized delivery</a:t>
            </a:r>
          </a:p>
        </p:txBody>
      </p:sp>
      <p:sp>
        <p:nvSpPr>
          <p:cNvPr id="17" name="Rectangle 16"/>
          <p:cNvSpPr/>
          <p:nvPr/>
        </p:nvSpPr>
        <p:spPr>
          <a:xfrm>
            <a:off x="274320" y="5166360"/>
            <a:ext cx="11612880" cy="594360"/>
          </a:xfrm>
          <a:prstGeom prst="rect">
            <a:avLst/>
          </a:prstGeom>
          <a:solidFill>
            <a:srgbClr val="D6E8F7"/>
          </a:solidFill>
          <a:ln w="19050">
            <a:solidFill>
              <a:srgbClr val="1A5F9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79" y="5257800"/>
            <a:ext cx="11338559" cy="411480"/>
          </a:xfrm>
          <a:prstGeom prst="rect">
            <a:avLst/>
          </a:prstGeom>
          <a:noFill/>
        </p:spPr>
        <p:txBody>
          <a:bodyPr wrap="square">
            <a:spAutoFit/>
          </a:bodyPr>
          <a:lstStyle/>
          <a:p>
            <a:pPr algn="ctr"/>
            <a:r>
              <a:rPr sz="1300" b="1">
                <a:solidFill>
                  <a:srgbClr val="0D2B55"/>
                </a:solidFill>
              </a:rPr>
              <a:t>A small central capability for governed innovation — not a disconnected innovation lab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9728"/>
            <a:ext cx="11430000" cy="685800"/>
          </a:xfrm>
          <a:prstGeom prst="rect">
            <a:avLst/>
          </a:prstGeom>
          <a:noFill/>
        </p:spPr>
        <p:txBody>
          <a:bodyPr wrap="square">
            <a:spAutoFit/>
          </a:bodyPr>
          <a:lstStyle/>
          <a:p>
            <a:pPr algn="l"/>
            <a:r>
              <a:rPr sz="2600" b="1" i="0">
                <a:solidFill>
                  <a:srgbClr val="FFFFFF"/>
                </a:solidFill>
              </a:rPr>
              <a:t>How Innovation Will Work in Practice</a:t>
            </a:r>
          </a:p>
        </p:txBody>
      </p:sp>
      <p:sp>
        <p:nvSpPr>
          <p:cNvPr id="5" name="Rectangle 4"/>
          <p:cNvSpPr/>
          <p:nvPr/>
        </p:nvSpPr>
        <p:spPr>
          <a:xfrm>
            <a:off x="0" y="105156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430000" cy="274320"/>
          </a:xfrm>
          <a:prstGeom prst="rect">
            <a:avLst/>
          </a:prstGeom>
          <a:noFill/>
        </p:spPr>
        <p:txBody>
          <a:bodyPr wrap="square">
            <a:spAutoFit/>
          </a:bodyPr>
          <a:lstStyle/>
          <a:p>
            <a:pPr algn="ctr"/>
            <a:r>
              <a:rPr sz="1100" b="0" i="0">
                <a:solidFill>
                  <a:srgbClr val="D6E8F7"/>
                </a:solidFill>
              </a:rPr>
              <a:t>Innovation Operating Model</a:t>
            </a:r>
          </a:p>
        </p:txBody>
      </p:sp>
      <p:sp>
        <p:nvSpPr>
          <p:cNvPr id="8" name="Rectangle 7"/>
          <p:cNvSpPr/>
          <p:nvPr/>
        </p:nvSpPr>
        <p:spPr>
          <a:xfrm>
            <a:off x="320040" y="1371600"/>
            <a:ext cx="2926080" cy="502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79" y="1435608"/>
            <a:ext cx="2743200" cy="384048"/>
          </a:xfrm>
          <a:prstGeom prst="rect">
            <a:avLst/>
          </a:prstGeom>
          <a:noFill/>
        </p:spPr>
        <p:txBody>
          <a:bodyPr wrap="square">
            <a:spAutoFit/>
          </a:bodyPr>
          <a:lstStyle/>
          <a:p>
            <a:pPr algn="l"/>
            <a:r>
              <a:rPr sz="1400" b="1" i="0">
                <a:solidFill>
                  <a:srgbClr val="FFFFFF"/>
                </a:solidFill>
              </a:rPr>
              <a:t>1. Scan</a:t>
            </a:r>
          </a:p>
        </p:txBody>
      </p:sp>
      <p:sp>
        <p:nvSpPr>
          <p:cNvPr id="10" name="Rectangle 9"/>
          <p:cNvSpPr/>
          <p:nvPr/>
        </p:nvSpPr>
        <p:spPr>
          <a:xfrm>
            <a:off x="320040" y="1874519"/>
            <a:ext cx="2926080" cy="342900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 y="1965960"/>
            <a:ext cx="2706624" cy="3200400"/>
          </a:xfrm>
          <a:prstGeom prst="rect">
            <a:avLst/>
          </a:prstGeom>
          <a:noFill/>
        </p:spPr>
        <p:txBody>
          <a:bodyPr wrap="square">
            <a:spAutoFit/>
          </a:bodyPr>
          <a:lstStyle/>
          <a:p>
            <a:pPr algn="l">
              <a:spcAft>
                <a:spcPts val="700"/>
              </a:spcAft>
            </a:pPr>
            <a:r>
              <a:rPr sz="1200" b="0">
                <a:solidFill>
                  <a:srgbClr val="333333"/>
                </a:solidFill>
              </a:rPr>
              <a:t>• Business demand</a:t>
            </a:r>
          </a:p>
          <a:p>
            <a:pPr algn="l">
              <a:spcAft>
                <a:spcPts val="700"/>
              </a:spcAft>
            </a:pPr>
            <a:r>
              <a:rPr sz="1200" b="0">
                <a:solidFill>
                  <a:srgbClr val="333333"/>
                </a:solidFill>
              </a:rPr>
              <a:t>• Technology market</a:t>
            </a:r>
          </a:p>
          <a:p>
            <a:pPr algn="l">
              <a:spcAft>
                <a:spcPts val="700"/>
              </a:spcAft>
            </a:pPr>
            <a:r>
              <a:rPr sz="1200" b="0">
                <a:solidFill>
                  <a:srgbClr val="333333"/>
                </a:solidFill>
              </a:rPr>
              <a:t>• Fintech ecosystem</a:t>
            </a:r>
          </a:p>
          <a:p>
            <a:pPr algn="l">
              <a:spcAft>
                <a:spcPts val="700"/>
              </a:spcAft>
            </a:pPr>
            <a:r>
              <a:rPr sz="1200" b="0">
                <a:solidFill>
                  <a:srgbClr val="333333"/>
                </a:solidFill>
              </a:rPr>
              <a:t>• Internal ideas</a:t>
            </a:r>
          </a:p>
        </p:txBody>
      </p:sp>
      <p:sp>
        <p:nvSpPr>
          <p:cNvPr id="12" name="TextBox 11"/>
          <p:cNvSpPr txBox="1"/>
          <p:nvPr/>
        </p:nvSpPr>
        <p:spPr>
          <a:xfrm>
            <a:off x="3255264" y="2743200"/>
            <a:ext cx="128016" cy="274320"/>
          </a:xfrm>
          <a:prstGeom prst="rect">
            <a:avLst/>
          </a:prstGeom>
          <a:noFill/>
        </p:spPr>
        <p:txBody>
          <a:bodyPr wrap="square">
            <a:spAutoFit/>
          </a:bodyPr>
          <a:lstStyle/>
          <a:p>
            <a:pPr algn="l"/>
            <a:r>
              <a:rPr sz="1600" b="0" i="0">
                <a:solidFill>
                  <a:srgbClr val="1A5F9C"/>
                </a:solidFill>
              </a:rPr>
              <a:t>▶</a:t>
            </a:r>
          </a:p>
        </p:txBody>
      </p:sp>
      <p:sp>
        <p:nvSpPr>
          <p:cNvPr id="13" name="Rectangle 12"/>
          <p:cNvSpPr/>
          <p:nvPr/>
        </p:nvSpPr>
        <p:spPr>
          <a:xfrm>
            <a:off x="3355848" y="1371600"/>
            <a:ext cx="2651760" cy="502920"/>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47288" y="1435608"/>
            <a:ext cx="2468879" cy="384048"/>
          </a:xfrm>
          <a:prstGeom prst="rect">
            <a:avLst/>
          </a:prstGeom>
          <a:noFill/>
        </p:spPr>
        <p:txBody>
          <a:bodyPr wrap="square">
            <a:spAutoFit/>
          </a:bodyPr>
          <a:lstStyle/>
          <a:p>
            <a:pPr algn="l"/>
            <a:r>
              <a:rPr sz="1400" b="1" i="0">
                <a:solidFill>
                  <a:srgbClr val="FFFFFF"/>
                </a:solidFill>
              </a:rPr>
              <a:t>2. Triage</a:t>
            </a:r>
          </a:p>
        </p:txBody>
      </p:sp>
      <p:sp>
        <p:nvSpPr>
          <p:cNvPr id="15" name="Rectangle 14"/>
          <p:cNvSpPr/>
          <p:nvPr/>
        </p:nvSpPr>
        <p:spPr>
          <a:xfrm>
            <a:off x="3355848" y="1874519"/>
            <a:ext cx="2651760" cy="342900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65576" y="1965960"/>
            <a:ext cx="2432304" cy="3200400"/>
          </a:xfrm>
          <a:prstGeom prst="rect">
            <a:avLst/>
          </a:prstGeom>
          <a:noFill/>
        </p:spPr>
        <p:txBody>
          <a:bodyPr wrap="square">
            <a:spAutoFit/>
          </a:bodyPr>
          <a:lstStyle/>
          <a:p>
            <a:pPr algn="l">
              <a:spcAft>
                <a:spcPts val="700"/>
              </a:spcAft>
            </a:pPr>
            <a:r>
              <a:rPr sz="1200" b="0">
                <a:solidFill>
                  <a:srgbClr val="333333"/>
                </a:solidFill>
              </a:rPr>
              <a:t>• Value</a:t>
            </a:r>
          </a:p>
          <a:p>
            <a:pPr algn="l">
              <a:spcAft>
                <a:spcPts val="700"/>
              </a:spcAft>
            </a:pPr>
            <a:r>
              <a:rPr sz="1200" b="0">
                <a:solidFill>
                  <a:srgbClr val="333333"/>
                </a:solidFill>
              </a:rPr>
              <a:t>• Architecture fit</a:t>
            </a:r>
          </a:p>
          <a:p>
            <a:pPr algn="l">
              <a:spcAft>
                <a:spcPts val="700"/>
              </a:spcAft>
            </a:pPr>
            <a:r>
              <a:rPr sz="1200" b="0">
                <a:solidFill>
                  <a:srgbClr val="333333"/>
                </a:solidFill>
              </a:rPr>
              <a:t>• Risk &amp; control implications</a:t>
            </a:r>
          </a:p>
          <a:p>
            <a:pPr algn="l">
              <a:spcAft>
                <a:spcPts val="700"/>
              </a:spcAft>
            </a:pPr>
            <a:r>
              <a:rPr sz="1200" b="0">
                <a:solidFill>
                  <a:srgbClr val="333333"/>
                </a:solidFill>
              </a:rPr>
              <a:t>• Reuse potential</a:t>
            </a:r>
          </a:p>
        </p:txBody>
      </p:sp>
      <p:sp>
        <p:nvSpPr>
          <p:cNvPr id="17" name="TextBox 16"/>
          <p:cNvSpPr txBox="1"/>
          <p:nvPr/>
        </p:nvSpPr>
        <p:spPr>
          <a:xfrm>
            <a:off x="6016752" y="2743200"/>
            <a:ext cx="128016" cy="274320"/>
          </a:xfrm>
          <a:prstGeom prst="rect">
            <a:avLst/>
          </a:prstGeom>
          <a:noFill/>
        </p:spPr>
        <p:txBody>
          <a:bodyPr wrap="square">
            <a:spAutoFit/>
          </a:bodyPr>
          <a:lstStyle/>
          <a:p>
            <a:pPr algn="l"/>
            <a:r>
              <a:rPr sz="1600" b="0" i="0">
                <a:solidFill>
                  <a:srgbClr val="1A5F9C"/>
                </a:solidFill>
              </a:rPr>
              <a:t>▶</a:t>
            </a:r>
          </a:p>
        </p:txBody>
      </p:sp>
      <p:sp>
        <p:nvSpPr>
          <p:cNvPr id="18" name="Rectangle 17"/>
          <p:cNvSpPr/>
          <p:nvPr/>
        </p:nvSpPr>
        <p:spPr>
          <a:xfrm>
            <a:off x="6117336" y="1371600"/>
            <a:ext cx="2377440" cy="502920"/>
          </a:xfrm>
          <a:prstGeom prst="rect">
            <a:avLst/>
          </a:prstGeom>
          <a:solidFill>
            <a:srgbClr val="0E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08775" y="1435608"/>
            <a:ext cx="2194560" cy="384048"/>
          </a:xfrm>
          <a:prstGeom prst="rect">
            <a:avLst/>
          </a:prstGeom>
          <a:noFill/>
        </p:spPr>
        <p:txBody>
          <a:bodyPr wrap="square">
            <a:spAutoFit/>
          </a:bodyPr>
          <a:lstStyle/>
          <a:p>
            <a:pPr algn="l"/>
            <a:r>
              <a:rPr sz="1400" b="1" i="0">
                <a:solidFill>
                  <a:srgbClr val="FFFFFF"/>
                </a:solidFill>
              </a:rPr>
              <a:t>3. POC</a:t>
            </a:r>
          </a:p>
        </p:txBody>
      </p:sp>
      <p:sp>
        <p:nvSpPr>
          <p:cNvPr id="20" name="Rectangle 19"/>
          <p:cNvSpPr/>
          <p:nvPr/>
        </p:nvSpPr>
        <p:spPr>
          <a:xfrm>
            <a:off x="6117336" y="1874519"/>
            <a:ext cx="2377440" cy="342900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27064" y="1965960"/>
            <a:ext cx="2157984" cy="3200400"/>
          </a:xfrm>
          <a:prstGeom prst="rect">
            <a:avLst/>
          </a:prstGeom>
          <a:noFill/>
        </p:spPr>
        <p:txBody>
          <a:bodyPr wrap="square">
            <a:spAutoFit/>
          </a:bodyPr>
          <a:lstStyle/>
          <a:p>
            <a:pPr algn="l">
              <a:spcAft>
                <a:spcPts val="700"/>
              </a:spcAft>
            </a:pPr>
            <a:r>
              <a:rPr sz="1200" b="0">
                <a:solidFill>
                  <a:srgbClr val="333333"/>
                </a:solidFill>
              </a:rPr>
              <a:t>• Controlled sandbox</a:t>
            </a:r>
          </a:p>
          <a:p>
            <a:pPr algn="l">
              <a:spcAft>
                <a:spcPts val="700"/>
              </a:spcAft>
            </a:pPr>
            <a:r>
              <a:rPr sz="1200" b="0">
                <a:solidFill>
                  <a:srgbClr val="333333"/>
                </a:solidFill>
              </a:rPr>
              <a:t>• Named sponsor</a:t>
            </a:r>
          </a:p>
          <a:p>
            <a:pPr algn="l">
              <a:spcAft>
                <a:spcPts val="700"/>
              </a:spcAft>
            </a:pPr>
            <a:r>
              <a:rPr sz="1200" b="0">
                <a:solidFill>
                  <a:srgbClr val="333333"/>
                </a:solidFill>
              </a:rPr>
              <a:t>• Named architect</a:t>
            </a:r>
          </a:p>
          <a:p>
            <a:pPr algn="l">
              <a:spcAft>
                <a:spcPts val="700"/>
              </a:spcAft>
            </a:pPr>
            <a:r>
              <a:rPr sz="1200" b="0">
                <a:solidFill>
                  <a:srgbClr val="333333"/>
                </a:solidFill>
              </a:rPr>
              <a:t>• Clear success criteria</a:t>
            </a:r>
          </a:p>
        </p:txBody>
      </p:sp>
      <p:sp>
        <p:nvSpPr>
          <p:cNvPr id="22" name="TextBox 21"/>
          <p:cNvSpPr txBox="1"/>
          <p:nvPr/>
        </p:nvSpPr>
        <p:spPr>
          <a:xfrm>
            <a:off x="8503919" y="2743200"/>
            <a:ext cx="128016" cy="274320"/>
          </a:xfrm>
          <a:prstGeom prst="rect">
            <a:avLst/>
          </a:prstGeom>
          <a:noFill/>
        </p:spPr>
        <p:txBody>
          <a:bodyPr wrap="square">
            <a:spAutoFit/>
          </a:bodyPr>
          <a:lstStyle/>
          <a:p>
            <a:pPr algn="l"/>
            <a:r>
              <a:rPr sz="1600" b="0" i="0">
                <a:solidFill>
                  <a:srgbClr val="1A5F9C"/>
                </a:solidFill>
              </a:rPr>
              <a:t>▶</a:t>
            </a:r>
          </a:p>
        </p:txBody>
      </p:sp>
      <p:sp>
        <p:nvSpPr>
          <p:cNvPr id="23" name="Rectangle 22"/>
          <p:cNvSpPr/>
          <p:nvPr/>
        </p:nvSpPr>
        <p:spPr>
          <a:xfrm>
            <a:off x="8604504" y="1371600"/>
            <a:ext cx="2103120" cy="502920"/>
          </a:xfrm>
          <a:prstGeom prst="rect">
            <a:avLst/>
          </a:prstGeom>
          <a:solidFill>
            <a:srgbClr val="147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95944" y="1435608"/>
            <a:ext cx="1920239" cy="384048"/>
          </a:xfrm>
          <a:prstGeom prst="rect">
            <a:avLst/>
          </a:prstGeom>
          <a:noFill/>
        </p:spPr>
        <p:txBody>
          <a:bodyPr wrap="square">
            <a:spAutoFit/>
          </a:bodyPr>
          <a:lstStyle/>
          <a:p>
            <a:pPr algn="l"/>
            <a:r>
              <a:rPr sz="1400" b="1" i="0">
                <a:solidFill>
                  <a:srgbClr val="FFFFFF"/>
                </a:solidFill>
              </a:rPr>
              <a:t>4. Pilot /
Industrialize</a:t>
            </a:r>
          </a:p>
        </p:txBody>
      </p:sp>
      <p:sp>
        <p:nvSpPr>
          <p:cNvPr id="25" name="Rectangle 24"/>
          <p:cNvSpPr/>
          <p:nvPr/>
        </p:nvSpPr>
        <p:spPr>
          <a:xfrm>
            <a:off x="8604504" y="1874519"/>
            <a:ext cx="2103120" cy="342900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14232" y="1965960"/>
            <a:ext cx="1883663" cy="3200400"/>
          </a:xfrm>
          <a:prstGeom prst="rect">
            <a:avLst/>
          </a:prstGeom>
          <a:noFill/>
        </p:spPr>
        <p:txBody>
          <a:bodyPr wrap="square">
            <a:spAutoFit/>
          </a:bodyPr>
          <a:lstStyle/>
          <a:p>
            <a:pPr algn="l">
              <a:spcAft>
                <a:spcPts val="700"/>
              </a:spcAft>
            </a:pPr>
            <a:r>
              <a:rPr sz="1200" b="0">
                <a:solidFill>
                  <a:srgbClr val="333333"/>
                </a:solidFill>
              </a:rPr>
              <a:t>• Move to roadmap</a:t>
            </a:r>
          </a:p>
          <a:p>
            <a:pPr algn="l">
              <a:spcAft>
                <a:spcPts val="700"/>
              </a:spcAft>
            </a:pPr>
            <a:r>
              <a:rPr sz="1200" b="0">
                <a:solidFill>
                  <a:srgbClr val="333333"/>
                </a:solidFill>
              </a:rPr>
              <a:t>• Hand over to delivery / engineering</a:t>
            </a:r>
          </a:p>
        </p:txBody>
      </p:sp>
      <p:sp>
        <p:nvSpPr>
          <p:cNvPr id="27" name="TextBox 26"/>
          <p:cNvSpPr txBox="1"/>
          <p:nvPr/>
        </p:nvSpPr>
        <p:spPr>
          <a:xfrm>
            <a:off x="320040" y="5532120"/>
            <a:ext cx="1828800" cy="274320"/>
          </a:xfrm>
          <a:prstGeom prst="rect">
            <a:avLst/>
          </a:prstGeom>
          <a:noFill/>
        </p:spPr>
        <p:txBody>
          <a:bodyPr wrap="square">
            <a:spAutoFit/>
          </a:bodyPr>
          <a:lstStyle/>
          <a:p>
            <a:pPr algn="l"/>
            <a:r>
              <a:rPr sz="1200" b="1" i="0">
                <a:solidFill>
                  <a:srgbClr val="0D2B55"/>
                </a:solidFill>
              </a:rPr>
              <a:t>Examples:</a:t>
            </a:r>
          </a:p>
        </p:txBody>
      </p:sp>
      <p:sp>
        <p:nvSpPr>
          <p:cNvPr id="28" name="TextBox 27"/>
          <p:cNvSpPr txBox="1"/>
          <p:nvPr/>
        </p:nvSpPr>
        <p:spPr>
          <a:xfrm>
            <a:off x="2103120" y="5532120"/>
            <a:ext cx="9784080" cy="320040"/>
          </a:xfrm>
          <a:prstGeom prst="rect">
            <a:avLst/>
          </a:prstGeom>
          <a:noFill/>
        </p:spPr>
        <p:txBody>
          <a:bodyPr wrap="square">
            <a:spAutoFit/>
          </a:bodyPr>
          <a:lstStyle/>
          <a:p>
            <a:pPr algn="l"/>
            <a:r>
              <a:rPr sz="1100" b="0" i="0">
                <a:solidFill>
                  <a:srgbClr val="333333"/>
                </a:solidFill>
              </a:rPr>
              <a:t>AI agents for internal ops  ·  New engineering &amp; observability tools  ·  Fintech integration  ·  Hackathon ideas → POCs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9728"/>
            <a:ext cx="11430000" cy="685800"/>
          </a:xfrm>
          <a:prstGeom prst="rect">
            <a:avLst/>
          </a:prstGeom>
          <a:noFill/>
        </p:spPr>
        <p:txBody>
          <a:bodyPr wrap="square">
            <a:spAutoFit/>
          </a:bodyPr>
          <a:lstStyle/>
          <a:p>
            <a:pPr algn="l"/>
            <a:r>
              <a:rPr sz="2600" b="1" i="0">
                <a:solidFill>
                  <a:srgbClr val="FFFFFF"/>
                </a:solidFill>
              </a:rPr>
              <a:t>First 100 Days: Launch the Model and Prove It in Pilots</a:t>
            </a:r>
          </a:p>
        </p:txBody>
      </p:sp>
      <p:sp>
        <p:nvSpPr>
          <p:cNvPr id="5" name="Rectangle 4"/>
          <p:cNvSpPr/>
          <p:nvPr/>
        </p:nvSpPr>
        <p:spPr>
          <a:xfrm>
            <a:off x="0" y="105156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430000" cy="274320"/>
          </a:xfrm>
          <a:prstGeom prst="rect">
            <a:avLst/>
          </a:prstGeom>
          <a:noFill/>
        </p:spPr>
        <p:txBody>
          <a:bodyPr wrap="square">
            <a:spAutoFit/>
          </a:bodyPr>
          <a:lstStyle/>
          <a:p>
            <a:pPr algn="ctr"/>
            <a:r>
              <a:rPr sz="1100" b="0" i="0">
                <a:solidFill>
                  <a:srgbClr val="D6E8F7"/>
                </a:solidFill>
              </a:rPr>
              <a:t>By day 100, the model should be operational in pilots</a:t>
            </a:r>
          </a:p>
        </p:txBody>
      </p:sp>
      <p:sp>
        <p:nvSpPr>
          <p:cNvPr id="8" name="Rectangle 7"/>
          <p:cNvSpPr/>
          <p:nvPr/>
        </p:nvSpPr>
        <p:spPr>
          <a:xfrm>
            <a:off x="274320" y="1325880"/>
            <a:ext cx="3675887" cy="594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371600"/>
            <a:ext cx="3493007" cy="521207"/>
          </a:xfrm>
          <a:prstGeom prst="rect">
            <a:avLst/>
          </a:prstGeom>
          <a:noFill/>
        </p:spPr>
        <p:txBody>
          <a:bodyPr wrap="square">
            <a:spAutoFit/>
          </a:bodyPr>
          <a:lstStyle/>
          <a:p>
            <a:pPr algn="l"/>
            <a:r>
              <a:rPr sz="1300" b="1" i="0">
                <a:solidFill>
                  <a:srgbClr val="FFFFFF"/>
                </a:solidFill>
              </a:rPr>
              <a:t>Days 1–30
Define</a:t>
            </a:r>
          </a:p>
        </p:txBody>
      </p:sp>
      <p:sp>
        <p:nvSpPr>
          <p:cNvPr id="10" name="Rectangle 9"/>
          <p:cNvSpPr/>
          <p:nvPr/>
        </p:nvSpPr>
        <p:spPr>
          <a:xfrm>
            <a:off x="274320" y="1920240"/>
            <a:ext cx="3675887" cy="434340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 y="2011680"/>
            <a:ext cx="3456431" cy="4206240"/>
          </a:xfrm>
          <a:prstGeom prst="rect">
            <a:avLst/>
          </a:prstGeom>
          <a:noFill/>
        </p:spPr>
        <p:txBody>
          <a:bodyPr wrap="square">
            <a:spAutoFit/>
          </a:bodyPr>
          <a:lstStyle/>
          <a:p>
            <a:pPr algn="l">
              <a:spcAft>
                <a:spcPts val="800"/>
              </a:spcAft>
            </a:pPr>
            <a:r>
              <a:rPr sz="1200" b="0">
                <a:solidFill>
                  <a:srgbClr val="333333"/>
                </a:solidFill>
              </a:rPr>
              <a:t>• Confirm target operating model</a:t>
            </a:r>
          </a:p>
          <a:p>
            <a:pPr algn="l">
              <a:spcAft>
                <a:spcPts val="800"/>
              </a:spcAft>
            </a:pPr>
            <a:r>
              <a:rPr sz="1200" b="0">
                <a:solidFill>
                  <a:srgbClr val="333333"/>
                </a:solidFill>
              </a:rPr>
              <a:t>• Confirm Architecture Office structure</a:t>
            </a:r>
          </a:p>
          <a:p>
            <a:pPr algn="l">
              <a:spcAft>
                <a:spcPts val="800"/>
              </a:spcAft>
            </a:pPr>
            <a:r>
              <a:rPr sz="1200" b="0">
                <a:solidFill>
                  <a:srgbClr val="333333"/>
                </a:solidFill>
              </a:rPr>
              <a:t>• Define role charters and boundaries</a:t>
            </a:r>
          </a:p>
          <a:p>
            <a:pPr algn="l">
              <a:spcAft>
                <a:spcPts val="800"/>
              </a:spcAft>
            </a:pPr>
            <a:r>
              <a:rPr sz="1200" b="0">
                <a:solidFill>
                  <a:srgbClr val="333333"/>
                </a:solidFill>
              </a:rPr>
              <a:t>• Identify overlaps requiring leadership decisions</a:t>
            </a:r>
          </a:p>
          <a:p>
            <a:pPr algn="l">
              <a:spcAft>
                <a:spcPts val="800"/>
              </a:spcAft>
            </a:pPr>
            <a:r>
              <a:rPr sz="1200" b="0">
                <a:solidFill>
                  <a:srgbClr val="333333"/>
                </a:solidFill>
              </a:rPr>
              <a:t>• Select pilot domains</a:t>
            </a:r>
          </a:p>
          <a:p>
            <a:pPr algn="l">
              <a:spcAft>
                <a:spcPts val="800"/>
              </a:spcAft>
            </a:pPr>
            <a:r>
              <a:rPr sz="1200" b="0">
                <a:solidFill>
                  <a:srgbClr val="333333"/>
                </a:solidFill>
              </a:rPr>
              <a:t>• Define innovation capability charter</a:t>
            </a:r>
          </a:p>
        </p:txBody>
      </p:sp>
      <p:sp>
        <p:nvSpPr>
          <p:cNvPr id="12" name="Rectangle 11"/>
          <p:cNvSpPr/>
          <p:nvPr/>
        </p:nvSpPr>
        <p:spPr>
          <a:xfrm>
            <a:off x="3493007" y="1389888"/>
            <a:ext cx="384048" cy="438912"/>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11295" y="1417320"/>
            <a:ext cx="347472" cy="365760"/>
          </a:xfrm>
          <a:prstGeom prst="rect">
            <a:avLst/>
          </a:prstGeom>
          <a:noFill/>
        </p:spPr>
        <p:txBody>
          <a:bodyPr wrap="square">
            <a:spAutoFit/>
          </a:bodyPr>
          <a:lstStyle/>
          <a:p>
            <a:pPr algn="ctr"/>
            <a:r>
              <a:rPr sz="1800" b="1" i="0">
                <a:solidFill>
                  <a:srgbClr val="0D2B55"/>
                </a:solidFill>
              </a:rPr>
              <a:t>1</a:t>
            </a:r>
          </a:p>
        </p:txBody>
      </p:sp>
      <p:sp>
        <p:nvSpPr>
          <p:cNvPr id="14" name="Rectangle 13"/>
          <p:cNvSpPr/>
          <p:nvPr/>
        </p:nvSpPr>
        <p:spPr>
          <a:xfrm>
            <a:off x="4105655" y="1325880"/>
            <a:ext cx="3675887" cy="594360"/>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97095" y="1371600"/>
            <a:ext cx="3493007" cy="521207"/>
          </a:xfrm>
          <a:prstGeom prst="rect">
            <a:avLst/>
          </a:prstGeom>
          <a:noFill/>
        </p:spPr>
        <p:txBody>
          <a:bodyPr wrap="square">
            <a:spAutoFit/>
          </a:bodyPr>
          <a:lstStyle/>
          <a:p>
            <a:pPr algn="l"/>
            <a:r>
              <a:rPr sz="1300" b="1" i="0">
                <a:solidFill>
                  <a:srgbClr val="FFFFFF"/>
                </a:solidFill>
              </a:rPr>
              <a:t>Days 31–60
Design</a:t>
            </a:r>
          </a:p>
        </p:txBody>
      </p:sp>
      <p:sp>
        <p:nvSpPr>
          <p:cNvPr id="16" name="Rectangle 15"/>
          <p:cNvSpPr/>
          <p:nvPr/>
        </p:nvSpPr>
        <p:spPr>
          <a:xfrm>
            <a:off x="4105655" y="1920240"/>
            <a:ext cx="3675887" cy="434340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15383" y="2011680"/>
            <a:ext cx="3456431" cy="4206240"/>
          </a:xfrm>
          <a:prstGeom prst="rect">
            <a:avLst/>
          </a:prstGeom>
          <a:noFill/>
        </p:spPr>
        <p:txBody>
          <a:bodyPr wrap="square">
            <a:spAutoFit/>
          </a:bodyPr>
          <a:lstStyle/>
          <a:p>
            <a:pPr algn="l">
              <a:spcAft>
                <a:spcPts val="800"/>
              </a:spcAft>
            </a:pPr>
            <a:r>
              <a:rPr sz="1200" b="0">
                <a:solidFill>
                  <a:srgbClr val="333333"/>
                </a:solidFill>
              </a:rPr>
              <a:t>• Define RACI across architecture &amp; adjacent teams</a:t>
            </a:r>
          </a:p>
          <a:p>
            <a:pPr algn="l">
              <a:spcAft>
                <a:spcPts val="800"/>
              </a:spcAft>
            </a:pPr>
            <a:r>
              <a:rPr sz="1200" b="0">
                <a:solidFill>
                  <a:srgbClr val="333333"/>
                </a:solidFill>
              </a:rPr>
              <a:t>• Define governance forums and review model</a:t>
            </a:r>
          </a:p>
          <a:p>
            <a:pPr algn="l">
              <a:spcAft>
                <a:spcPts val="800"/>
              </a:spcAft>
            </a:pPr>
            <a:r>
              <a:rPr sz="1200" b="0">
                <a:solidFill>
                  <a:srgbClr val="333333"/>
                </a:solidFill>
              </a:rPr>
              <a:t>• Define matrix management approach</a:t>
            </a:r>
          </a:p>
          <a:p>
            <a:pPr algn="l">
              <a:spcAft>
                <a:spcPts val="800"/>
              </a:spcAft>
            </a:pPr>
            <a:r>
              <a:rPr sz="1200" b="0">
                <a:solidFill>
                  <a:srgbClr val="333333"/>
                </a:solidFill>
              </a:rPr>
              <a:t>• Define architecture decision record model</a:t>
            </a:r>
          </a:p>
          <a:p>
            <a:pPr algn="l">
              <a:spcAft>
                <a:spcPts val="800"/>
              </a:spcAft>
            </a:pPr>
            <a:r>
              <a:rPr sz="1200" b="0">
                <a:solidFill>
                  <a:srgbClr val="333333"/>
                </a:solidFill>
              </a:rPr>
              <a:t>• Define standards backlog</a:t>
            </a:r>
          </a:p>
          <a:p>
            <a:pPr algn="l">
              <a:spcAft>
                <a:spcPts val="800"/>
              </a:spcAft>
            </a:pPr>
            <a:r>
              <a:rPr sz="1200" b="0">
                <a:solidFill>
                  <a:srgbClr val="333333"/>
                </a:solidFill>
              </a:rPr>
              <a:t>• Define POC and sandbox governance</a:t>
            </a:r>
          </a:p>
        </p:txBody>
      </p:sp>
      <p:sp>
        <p:nvSpPr>
          <p:cNvPr id="18" name="Rectangle 17"/>
          <p:cNvSpPr/>
          <p:nvPr/>
        </p:nvSpPr>
        <p:spPr>
          <a:xfrm>
            <a:off x="7324343" y="1389888"/>
            <a:ext cx="384048" cy="438912"/>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42631" y="1417320"/>
            <a:ext cx="347472" cy="365760"/>
          </a:xfrm>
          <a:prstGeom prst="rect">
            <a:avLst/>
          </a:prstGeom>
          <a:noFill/>
        </p:spPr>
        <p:txBody>
          <a:bodyPr wrap="square">
            <a:spAutoFit/>
          </a:bodyPr>
          <a:lstStyle/>
          <a:p>
            <a:pPr algn="ctr"/>
            <a:r>
              <a:rPr sz="1800" b="1" i="0">
                <a:solidFill>
                  <a:srgbClr val="0D2B55"/>
                </a:solidFill>
              </a:rPr>
              <a:t>2</a:t>
            </a:r>
          </a:p>
        </p:txBody>
      </p:sp>
      <p:sp>
        <p:nvSpPr>
          <p:cNvPr id="20" name="Rectangle 19"/>
          <p:cNvSpPr/>
          <p:nvPr/>
        </p:nvSpPr>
        <p:spPr>
          <a:xfrm>
            <a:off x="7936992" y="1325880"/>
            <a:ext cx="3675887" cy="594360"/>
          </a:xfrm>
          <a:prstGeom prst="rect">
            <a:avLst/>
          </a:prstGeom>
          <a:solidFill>
            <a:srgbClr val="147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28431" y="1371600"/>
            <a:ext cx="3493007" cy="521207"/>
          </a:xfrm>
          <a:prstGeom prst="rect">
            <a:avLst/>
          </a:prstGeom>
          <a:noFill/>
        </p:spPr>
        <p:txBody>
          <a:bodyPr wrap="square">
            <a:spAutoFit/>
          </a:bodyPr>
          <a:lstStyle/>
          <a:p>
            <a:pPr algn="l"/>
            <a:r>
              <a:rPr sz="1300" b="1" i="0">
                <a:solidFill>
                  <a:srgbClr val="FFFFFF"/>
                </a:solidFill>
              </a:rPr>
              <a:t>Days 61–100
Launch</a:t>
            </a:r>
          </a:p>
        </p:txBody>
      </p:sp>
      <p:sp>
        <p:nvSpPr>
          <p:cNvPr id="22" name="Rectangle 21"/>
          <p:cNvSpPr/>
          <p:nvPr/>
        </p:nvSpPr>
        <p:spPr>
          <a:xfrm>
            <a:off x="7936992" y="1920240"/>
            <a:ext cx="3675887" cy="434340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19" y="2011680"/>
            <a:ext cx="3456431" cy="4206240"/>
          </a:xfrm>
          <a:prstGeom prst="rect">
            <a:avLst/>
          </a:prstGeom>
          <a:noFill/>
        </p:spPr>
        <p:txBody>
          <a:bodyPr wrap="square">
            <a:spAutoFit/>
          </a:bodyPr>
          <a:lstStyle/>
          <a:p>
            <a:pPr algn="l">
              <a:spcAft>
                <a:spcPts val="800"/>
              </a:spcAft>
            </a:pPr>
            <a:r>
              <a:rPr sz="1200" b="0">
                <a:solidFill>
                  <a:srgbClr val="333333"/>
                </a:solidFill>
              </a:rPr>
              <a:t>• Launch Architecture Office</a:t>
            </a:r>
          </a:p>
          <a:p>
            <a:pPr algn="l">
              <a:spcAft>
                <a:spcPts val="800"/>
              </a:spcAft>
            </a:pPr>
            <a:r>
              <a:rPr sz="1200" b="0">
                <a:solidFill>
                  <a:srgbClr val="333333"/>
                </a:solidFill>
              </a:rPr>
              <a:t>• Appoint architecture leads</a:t>
            </a:r>
          </a:p>
          <a:p>
            <a:pPr algn="l">
              <a:spcAft>
                <a:spcPts val="800"/>
              </a:spcAft>
            </a:pPr>
            <a:r>
              <a:rPr sz="1200" b="0">
                <a:solidFill>
                  <a:srgbClr val="333333"/>
                </a:solidFill>
              </a:rPr>
              <a:t>• Deploy architects into pilot areas</a:t>
            </a:r>
          </a:p>
          <a:p>
            <a:pPr algn="l">
              <a:spcAft>
                <a:spcPts val="800"/>
              </a:spcAft>
            </a:pPr>
            <a:r>
              <a:rPr sz="1200" b="0">
                <a:solidFill>
                  <a:srgbClr val="333333"/>
                </a:solidFill>
              </a:rPr>
              <a:t>• Start governance cadence</a:t>
            </a:r>
          </a:p>
          <a:p>
            <a:pPr algn="l">
              <a:spcAft>
                <a:spcPts val="800"/>
              </a:spcAft>
            </a:pPr>
            <a:r>
              <a:rPr sz="1200" b="0">
                <a:solidFill>
                  <a:srgbClr val="333333"/>
                </a:solidFill>
              </a:rPr>
              <a:t>• Publish first standards pack</a:t>
            </a:r>
          </a:p>
          <a:p>
            <a:pPr algn="l">
              <a:spcAft>
                <a:spcPts val="800"/>
              </a:spcAft>
            </a:pPr>
            <a:r>
              <a:rPr sz="1200" b="0">
                <a:solidFill>
                  <a:srgbClr val="333333"/>
                </a:solidFill>
              </a:rPr>
              <a:t>• Launch KPI dashboard</a:t>
            </a:r>
          </a:p>
          <a:p>
            <a:pPr algn="l">
              <a:spcAft>
                <a:spcPts val="800"/>
              </a:spcAft>
            </a:pPr>
            <a:r>
              <a:rPr sz="1200" b="0">
                <a:solidFill>
                  <a:srgbClr val="333333"/>
                </a:solidFill>
              </a:rPr>
              <a:t>• Start first controlled innovation use cases</a:t>
            </a:r>
          </a:p>
        </p:txBody>
      </p:sp>
      <p:sp>
        <p:nvSpPr>
          <p:cNvPr id="24" name="Rectangle 23"/>
          <p:cNvSpPr/>
          <p:nvPr/>
        </p:nvSpPr>
        <p:spPr>
          <a:xfrm>
            <a:off x="11155680" y="1389888"/>
            <a:ext cx="384048" cy="438912"/>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173967" y="1417320"/>
            <a:ext cx="347472" cy="365760"/>
          </a:xfrm>
          <a:prstGeom prst="rect">
            <a:avLst/>
          </a:prstGeom>
          <a:noFill/>
        </p:spPr>
        <p:txBody>
          <a:bodyPr wrap="square">
            <a:spAutoFit/>
          </a:bodyPr>
          <a:lstStyle/>
          <a:p>
            <a:pPr algn="ctr"/>
            <a:r>
              <a:rPr sz="1800" b="1" i="0">
                <a:solidFill>
                  <a:srgbClr val="0D2B55"/>
                </a:solidFill>
              </a:rPr>
              <a:t>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9728"/>
            <a:ext cx="11430000" cy="685800"/>
          </a:xfrm>
          <a:prstGeom prst="rect">
            <a:avLst/>
          </a:prstGeom>
          <a:noFill/>
        </p:spPr>
        <p:txBody>
          <a:bodyPr wrap="square">
            <a:spAutoFit/>
          </a:bodyPr>
          <a:lstStyle/>
          <a:p>
            <a:pPr algn="l"/>
            <a:r>
              <a:rPr sz="2600" b="1" i="0">
                <a:solidFill>
                  <a:srgbClr val="FFFFFF"/>
                </a:solidFill>
              </a:rPr>
              <a:t>Year One: Stabilize, Scale, and Demonstrate Value</a:t>
            </a:r>
          </a:p>
        </p:txBody>
      </p:sp>
      <p:sp>
        <p:nvSpPr>
          <p:cNvPr id="5" name="Rectangle 4"/>
          <p:cNvSpPr/>
          <p:nvPr/>
        </p:nvSpPr>
        <p:spPr>
          <a:xfrm>
            <a:off x="0" y="105156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430000" cy="274320"/>
          </a:xfrm>
          <a:prstGeom prst="rect">
            <a:avLst/>
          </a:prstGeom>
          <a:noFill/>
        </p:spPr>
        <p:txBody>
          <a:bodyPr wrap="square">
            <a:spAutoFit/>
          </a:bodyPr>
          <a:lstStyle/>
          <a:p>
            <a:pPr algn="ctr"/>
            <a:r>
              <a:rPr sz="1100" b="0" i="0">
                <a:solidFill>
                  <a:srgbClr val="D6E8F7"/>
                </a:solidFill>
              </a:rPr>
              <a:t>Year-One Roadmap</a:t>
            </a:r>
          </a:p>
        </p:txBody>
      </p:sp>
      <p:sp>
        <p:nvSpPr>
          <p:cNvPr id="8" name="Rectangle 7"/>
          <p:cNvSpPr/>
          <p:nvPr/>
        </p:nvSpPr>
        <p:spPr>
          <a:xfrm>
            <a:off x="274320" y="1325880"/>
            <a:ext cx="3675887" cy="5029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389888"/>
            <a:ext cx="3493007" cy="384048"/>
          </a:xfrm>
          <a:prstGeom prst="rect">
            <a:avLst/>
          </a:prstGeom>
          <a:noFill/>
        </p:spPr>
        <p:txBody>
          <a:bodyPr wrap="square">
            <a:spAutoFit/>
          </a:bodyPr>
          <a:lstStyle/>
          <a:p>
            <a:pPr algn="l"/>
            <a:r>
              <a:rPr sz="1700" b="1" i="0">
                <a:solidFill>
                  <a:srgbClr val="E0A800"/>
                </a:solidFill>
              </a:rPr>
              <a:t>Q2</a:t>
            </a:r>
          </a:p>
        </p:txBody>
      </p:sp>
      <p:sp>
        <p:nvSpPr>
          <p:cNvPr id="10" name="Rectangle 9"/>
          <p:cNvSpPr/>
          <p:nvPr/>
        </p:nvSpPr>
        <p:spPr>
          <a:xfrm>
            <a:off x="274320" y="1828800"/>
            <a:ext cx="3675887" cy="31546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 y="1920240"/>
            <a:ext cx="3456431" cy="2971800"/>
          </a:xfrm>
          <a:prstGeom prst="rect">
            <a:avLst/>
          </a:prstGeom>
          <a:noFill/>
        </p:spPr>
        <p:txBody>
          <a:bodyPr wrap="square">
            <a:spAutoFit/>
          </a:bodyPr>
          <a:lstStyle/>
          <a:p>
            <a:pPr algn="l">
              <a:spcAft>
                <a:spcPts val="700"/>
              </a:spcAft>
            </a:pPr>
            <a:r>
              <a:rPr sz="1200" b="0">
                <a:solidFill>
                  <a:srgbClr val="333333"/>
                </a:solidFill>
              </a:rPr>
              <a:t>• Expand embedded deployment</a:t>
            </a:r>
          </a:p>
          <a:p>
            <a:pPr algn="l">
              <a:spcAft>
                <a:spcPts val="700"/>
              </a:spcAft>
            </a:pPr>
            <a:r>
              <a:rPr sz="1200" b="0">
                <a:solidFill>
                  <a:srgbClr val="333333"/>
                </a:solidFill>
              </a:rPr>
              <a:t>• Publish reference architectures</a:t>
            </a:r>
          </a:p>
          <a:p>
            <a:pPr algn="l">
              <a:spcAft>
                <a:spcPts val="700"/>
              </a:spcAft>
            </a:pPr>
            <a:r>
              <a:rPr sz="1200" b="0">
                <a:solidFill>
                  <a:srgbClr val="333333"/>
                </a:solidFill>
              </a:rPr>
              <a:t>• Formalize exception management</a:t>
            </a:r>
          </a:p>
          <a:p>
            <a:pPr algn="l">
              <a:spcAft>
                <a:spcPts val="700"/>
              </a:spcAft>
            </a:pPr>
            <a:r>
              <a:rPr sz="1200" b="0">
                <a:solidFill>
                  <a:srgbClr val="333333"/>
                </a:solidFill>
              </a:rPr>
              <a:t>• Launch architecture CoP</a:t>
            </a:r>
          </a:p>
          <a:p>
            <a:pPr algn="l">
              <a:spcAft>
                <a:spcPts val="700"/>
              </a:spcAft>
            </a:pPr>
            <a:r>
              <a:rPr sz="1200" b="0">
                <a:solidFill>
                  <a:srgbClr val="333333"/>
                </a:solidFill>
              </a:rPr>
              <a:t>• Establish demand &amp; capacity management</a:t>
            </a:r>
          </a:p>
        </p:txBody>
      </p:sp>
      <p:sp>
        <p:nvSpPr>
          <p:cNvPr id="12" name="Rectangle 11"/>
          <p:cNvSpPr/>
          <p:nvPr/>
        </p:nvSpPr>
        <p:spPr>
          <a:xfrm>
            <a:off x="4105655" y="1325880"/>
            <a:ext cx="3675887" cy="502920"/>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97095" y="1389888"/>
            <a:ext cx="3493007" cy="384048"/>
          </a:xfrm>
          <a:prstGeom prst="rect">
            <a:avLst/>
          </a:prstGeom>
          <a:noFill/>
        </p:spPr>
        <p:txBody>
          <a:bodyPr wrap="square">
            <a:spAutoFit/>
          </a:bodyPr>
          <a:lstStyle/>
          <a:p>
            <a:pPr algn="l"/>
            <a:r>
              <a:rPr sz="1700" b="1" i="0">
                <a:solidFill>
                  <a:srgbClr val="E0A800"/>
                </a:solidFill>
              </a:rPr>
              <a:t>Q3</a:t>
            </a:r>
          </a:p>
        </p:txBody>
      </p:sp>
      <p:sp>
        <p:nvSpPr>
          <p:cNvPr id="14" name="Rectangle 13"/>
          <p:cNvSpPr/>
          <p:nvPr/>
        </p:nvSpPr>
        <p:spPr>
          <a:xfrm>
            <a:off x="4105655" y="1828800"/>
            <a:ext cx="3675887" cy="31546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5383" y="1920240"/>
            <a:ext cx="3456431" cy="2971800"/>
          </a:xfrm>
          <a:prstGeom prst="rect">
            <a:avLst/>
          </a:prstGeom>
          <a:noFill/>
        </p:spPr>
        <p:txBody>
          <a:bodyPr wrap="square">
            <a:spAutoFit/>
          </a:bodyPr>
          <a:lstStyle/>
          <a:p>
            <a:pPr algn="l">
              <a:spcAft>
                <a:spcPts val="700"/>
              </a:spcAft>
            </a:pPr>
            <a:r>
              <a:rPr sz="1200" b="0">
                <a:solidFill>
                  <a:srgbClr val="333333"/>
                </a:solidFill>
              </a:rPr>
              <a:t>• Strengthen platform architecture</a:t>
            </a:r>
          </a:p>
          <a:p>
            <a:pPr algn="l">
              <a:spcAft>
                <a:spcPts val="700"/>
              </a:spcAft>
            </a:pPr>
            <a:r>
              <a:rPr sz="1200" b="0">
                <a:solidFill>
                  <a:srgbClr val="333333"/>
                </a:solidFill>
              </a:rPr>
              <a:t>• Define target-state roadmaps for priority domains</a:t>
            </a:r>
          </a:p>
          <a:p>
            <a:pPr algn="l">
              <a:spcAft>
                <a:spcPts val="700"/>
              </a:spcAft>
            </a:pPr>
            <a:r>
              <a:rPr sz="1200" b="0">
                <a:solidFill>
                  <a:srgbClr val="333333"/>
                </a:solidFill>
              </a:rPr>
              <a:t>• Integrate architecture into investment governance</a:t>
            </a:r>
          </a:p>
          <a:p>
            <a:pPr algn="l">
              <a:spcAft>
                <a:spcPts val="700"/>
              </a:spcAft>
            </a:pPr>
            <a:r>
              <a:rPr sz="1200" b="0">
                <a:solidFill>
                  <a:srgbClr val="333333"/>
                </a:solidFill>
              </a:rPr>
              <a:t>• Increase pattern reuse</a:t>
            </a:r>
          </a:p>
          <a:p>
            <a:pPr algn="l">
              <a:spcAft>
                <a:spcPts val="700"/>
              </a:spcAft>
            </a:pPr>
            <a:r>
              <a:rPr sz="1200" b="0">
                <a:solidFill>
                  <a:srgbClr val="333333"/>
                </a:solidFill>
              </a:rPr>
              <a:t>• Mature data, security &amp; integration engagement</a:t>
            </a:r>
          </a:p>
        </p:txBody>
      </p:sp>
      <p:sp>
        <p:nvSpPr>
          <p:cNvPr id="16" name="Rectangle 15"/>
          <p:cNvSpPr/>
          <p:nvPr/>
        </p:nvSpPr>
        <p:spPr>
          <a:xfrm>
            <a:off x="7936992" y="1325880"/>
            <a:ext cx="3675887" cy="502920"/>
          </a:xfrm>
          <a:prstGeom prst="rect">
            <a:avLst/>
          </a:prstGeom>
          <a:solidFill>
            <a:srgbClr val="0E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28431" y="1389888"/>
            <a:ext cx="3493007" cy="384048"/>
          </a:xfrm>
          <a:prstGeom prst="rect">
            <a:avLst/>
          </a:prstGeom>
          <a:noFill/>
        </p:spPr>
        <p:txBody>
          <a:bodyPr wrap="square">
            <a:spAutoFit/>
          </a:bodyPr>
          <a:lstStyle/>
          <a:p>
            <a:pPr algn="l"/>
            <a:r>
              <a:rPr sz="1700" b="1" i="0">
                <a:solidFill>
                  <a:srgbClr val="FFFFFF"/>
                </a:solidFill>
              </a:rPr>
              <a:t>Q4</a:t>
            </a:r>
          </a:p>
        </p:txBody>
      </p:sp>
      <p:sp>
        <p:nvSpPr>
          <p:cNvPr id="18" name="Rectangle 17"/>
          <p:cNvSpPr/>
          <p:nvPr/>
        </p:nvSpPr>
        <p:spPr>
          <a:xfrm>
            <a:off x="7936992" y="1828800"/>
            <a:ext cx="3675887" cy="315468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19" y="1920240"/>
            <a:ext cx="3456431" cy="2971800"/>
          </a:xfrm>
          <a:prstGeom prst="rect">
            <a:avLst/>
          </a:prstGeom>
          <a:noFill/>
        </p:spPr>
        <p:txBody>
          <a:bodyPr wrap="square">
            <a:spAutoFit/>
          </a:bodyPr>
          <a:lstStyle/>
          <a:p>
            <a:pPr algn="l">
              <a:spcAft>
                <a:spcPts val="700"/>
              </a:spcAft>
            </a:pPr>
            <a:r>
              <a:rPr sz="1200" b="0">
                <a:solidFill>
                  <a:srgbClr val="333333"/>
                </a:solidFill>
              </a:rPr>
              <a:t>• Review organization effectiveness</a:t>
            </a:r>
          </a:p>
          <a:p>
            <a:pPr algn="l">
              <a:spcAft>
                <a:spcPts val="700"/>
              </a:spcAft>
            </a:pPr>
            <a:r>
              <a:rPr sz="1200" b="0">
                <a:solidFill>
                  <a:srgbClr val="333333"/>
                </a:solidFill>
              </a:rPr>
              <a:t>• Refine deployment model</a:t>
            </a:r>
          </a:p>
          <a:p>
            <a:pPr algn="l">
              <a:spcAft>
                <a:spcPts val="700"/>
              </a:spcAft>
            </a:pPr>
            <a:r>
              <a:rPr sz="1200" b="0">
                <a:solidFill>
                  <a:srgbClr val="333333"/>
                </a:solidFill>
              </a:rPr>
              <a:t>• Baseline architecture debt</a:t>
            </a:r>
          </a:p>
          <a:p>
            <a:pPr algn="l">
              <a:spcAft>
                <a:spcPts val="700"/>
              </a:spcAft>
            </a:pPr>
            <a:r>
              <a:rPr sz="1200" b="0">
                <a:solidFill>
                  <a:srgbClr val="333333"/>
                </a:solidFill>
              </a:rPr>
              <a:t>• Expand KPI model from transition to value</a:t>
            </a:r>
          </a:p>
          <a:p>
            <a:pPr algn="l">
              <a:spcAft>
                <a:spcPts val="700"/>
              </a:spcAft>
            </a:pPr>
            <a:r>
              <a:rPr sz="1200" b="0">
                <a:solidFill>
                  <a:srgbClr val="333333"/>
                </a:solidFill>
              </a:rPr>
              <a:t>• Define year-two roadmap</a:t>
            </a:r>
          </a:p>
        </p:txBody>
      </p:sp>
      <p:sp>
        <p:nvSpPr>
          <p:cNvPr id="20" name="Rectangle 19"/>
          <p:cNvSpPr/>
          <p:nvPr/>
        </p:nvSpPr>
        <p:spPr>
          <a:xfrm>
            <a:off x="274320" y="5120640"/>
            <a:ext cx="11612880" cy="1115568"/>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5166360"/>
            <a:ext cx="2743200" cy="320040"/>
          </a:xfrm>
          <a:prstGeom prst="rect">
            <a:avLst/>
          </a:prstGeom>
          <a:noFill/>
        </p:spPr>
        <p:txBody>
          <a:bodyPr wrap="square">
            <a:spAutoFit/>
          </a:bodyPr>
          <a:lstStyle/>
          <a:p>
            <a:pPr algn="l"/>
            <a:r>
              <a:rPr sz="1200" b="1" i="0">
                <a:solidFill>
                  <a:srgbClr val="E0A800"/>
                </a:solidFill>
              </a:rPr>
              <a:t>Year-end outcome:</a:t>
            </a:r>
          </a:p>
        </p:txBody>
      </p:sp>
      <p:sp>
        <p:nvSpPr>
          <p:cNvPr id="22" name="TextBox 21"/>
          <p:cNvSpPr txBox="1"/>
          <p:nvPr/>
        </p:nvSpPr>
        <p:spPr>
          <a:xfrm>
            <a:off x="411480" y="5486400"/>
            <a:ext cx="11247120" cy="685800"/>
          </a:xfrm>
          <a:prstGeom prst="rect">
            <a:avLst/>
          </a:prstGeom>
          <a:noFill/>
        </p:spPr>
        <p:txBody>
          <a:bodyPr wrap="square">
            <a:spAutoFit/>
          </a:bodyPr>
          <a:lstStyle/>
          <a:p>
            <a:pPr algn="l">
              <a:spcAft>
                <a:spcPts val="300"/>
              </a:spcAft>
            </a:pPr>
            <a:r>
              <a:rPr sz="1100" b="0">
                <a:solidFill>
                  <a:srgbClr val="FFFFFF"/>
                </a:solidFill>
              </a:rPr>
              <a:t>• One architecture profession</a:t>
            </a:r>
          </a:p>
          <a:p>
            <a:pPr algn="l">
              <a:spcAft>
                <a:spcPts val="300"/>
              </a:spcAft>
            </a:pPr>
            <a:r>
              <a:rPr sz="1100" b="0">
                <a:solidFill>
                  <a:srgbClr val="FFFFFF"/>
                </a:solidFill>
              </a:rPr>
              <a:t>• Stable matrix model</a:t>
            </a:r>
          </a:p>
          <a:p>
            <a:pPr algn="l">
              <a:spcAft>
                <a:spcPts val="300"/>
              </a:spcAft>
            </a:pPr>
            <a:r>
              <a:rPr sz="1100" b="0">
                <a:solidFill>
                  <a:srgbClr val="FFFFFF"/>
                </a:solidFill>
              </a:rPr>
              <a:t>• Stronger reuse &amp; standards adoption</a:t>
            </a:r>
          </a:p>
          <a:p>
            <a:pPr algn="l">
              <a:spcAft>
                <a:spcPts val="300"/>
              </a:spcAft>
            </a:pPr>
            <a:r>
              <a:rPr sz="1100" b="0">
                <a:solidFill>
                  <a:srgbClr val="FFFFFF"/>
                </a:solidFill>
              </a:rPr>
              <a:t>• Measurable influence on change and investment decisions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9728"/>
            <a:ext cx="11430000" cy="685800"/>
          </a:xfrm>
          <a:prstGeom prst="rect">
            <a:avLst/>
          </a:prstGeom>
          <a:noFill/>
        </p:spPr>
        <p:txBody>
          <a:bodyPr wrap="square">
            <a:spAutoFit/>
          </a:bodyPr>
          <a:lstStyle/>
          <a:p>
            <a:pPr algn="l"/>
            <a:r>
              <a:rPr sz="2600" b="1" i="0">
                <a:solidFill>
                  <a:srgbClr val="FFFFFF"/>
                </a:solidFill>
              </a:rPr>
              <a:t>100-Day KPI Framework</a:t>
            </a:r>
          </a:p>
        </p:txBody>
      </p:sp>
      <p:sp>
        <p:nvSpPr>
          <p:cNvPr id="5" name="Rectangle 4"/>
          <p:cNvSpPr/>
          <p:nvPr/>
        </p:nvSpPr>
        <p:spPr>
          <a:xfrm>
            <a:off x="0" y="105156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430000" cy="274320"/>
          </a:xfrm>
          <a:prstGeom prst="rect">
            <a:avLst/>
          </a:prstGeom>
          <a:noFill/>
        </p:spPr>
        <p:txBody>
          <a:bodyPr wrap="square">
            <a:spAutoFit/>
          </a:bodyPr>
          <a:lstStyle/>
          <a:p>
            <a:pPr algn="ctr"/>
            <a:r>
              <a:rPr sz="1100" b="0" i="0">
                <a:solidFill>
                  <a:srgbClr val="D6E8F7"/>
                </a:solidFill>
              </a:rPr>
              <a:t>Transition metrics — measuring readiness and activation</a:t>
            </a:r>
          </a:p>
        </p:txBody>
      </p:sp>
      <p:sp>
        <p:nvSpPr>
          <p:cNvPr id="8" name="Rectangle 7"/>
          <p:cNvSpPr/>
          <p:nvPr/>
        </p:nvSpPr>
        <p:spPr>
          <a:xfrm>
            <a:off x="228600" y="1325880"/>
            <a:ext cx="2834640" cy="594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389888"/>
            <a:ext cx="2651760" cy="502920"/>
          </a:xfrm>
          <a:prstGeom prst="rect">
            <a:avLst/>
          </a:prstGeom>
          <a:noFill/>
        </p:spPr>
        <p:txBody>
          <a:bodyPr wrap="square">
            <a:spAutoFit/>
          </a:bodyPr>
          <a:lstStyle/>
          <a:p>
            <a:pPr algn="ctr"/>
            <a:r>
              <a:rPr sz="1200" b="1" i="0">
                <a:solidFill>
                  <a:srgbClr val="FFFFFF"/>
                </a:solidFill>
              </a:rPr>
              <a:t>Organization
&amp; Governance</a:t>
            </a:r>
          </a:p>
        </p:txBody>
      </p:sp>
      <p:sp>
        <p:nvSpPr>
          <p:cNvPr id="10" name="Rectangle 9"/>
          <p:cNvSpPr/>
          <p:nvPr/>
        </p:nvSpPr>
        <p:spPr>
          <a:xfrm>
            <a:off x="228600" y="1920240"/>
            <a:ext cx="2834640" cy="438912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1993391"/>
            <a:ext cx="2651760" cy="868680"/>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15768" y="2313432"/>
            <a:ext cx="228600"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2048255"/>
            <a:ext cx="2331720" cy="749808"/>
          </a:xfrm>
          <a:prstGeom prst="rect">
            <a:avLst/>
          </a:prstGeom>
          <a:noFill/>
        </p:spPr>
        <p:txBody>
          <a:bodyPr wrap="square">
            <a:spAutoFit/>
          </a:bodyPr>
          <a:lstStyle/>
          <a:p>
            <a:pPr algn="l"/>
            <a:r>
              <a:rPr sz="1000" b="0" i="0">
                <a:solidFill>
                  <a:srgbClr val="333333"/>
                </a:solidFill>
              </a:rPr>
              <a:t>Target operating model approved</a:t>
            </a:r>
          </a:p>
        </p:txBody>
      </p:sp>
      <p:sp>
        <p:nvSpPr>
          <p:cNvPr id="14" name="Rectangle 13"/>
          <p:cNvSpPr/>
          <p:nvPr/>
        </p:nvSpPr>
        <p:spPr>
          <a:xfrm>
            <a:off x="320040" y="3044951"/>
            <a:ext cx="2651760" cy="868680"/>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15768" y="3364991"/>
            <a:ext cx="228600"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3099815"/>
            <a:ext cx="2331720" cy="749808"/>
          </a:xfrm>
          <a:prstGeom prst="rect">
            <a:avLst/>
          </a:prstGeom>
          <a:noFill/>
        </p:spPr>
        <p:txBody>
          <a:bodyPr wrap="square">
            <a:spAutoFit/>
          </a:bodyPr>
          <a:lstStyle/>
          <a:p>
            <a:pPr algn="l"/>
            <a:r>
              <a:rPr sz="1000" b="0" i="0">
                <a:solidFill>
                  <a:srgbClr val="333333"/>
                </a:solidFill>
              </a:rPr>
              <a:t>Architecture role charters approved</a:t>
            </a:r>
          </a:p>
        </p:txBody>
      </p:sp>
      <p:sp>
        <p:nvSpPr>
          <p:cNvPr id="17" name="Rectangle 16"/>
          <p:cNvSpPr/>
          <p:nvPr/>
        </p:nvSpPr>
        <p:spPr>
          <a:xfrm>
            <a:off x="320040" y="4096511"/>
            <a:ext cx="2651760" cy="868680"/>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15768" y="4416551"/>
            <a:ext cx="228600"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151375"/>
            <a:ext cx="2331720" cy="749808"/>
          </a:xfrm>
          <a:prstGeom prst="rect">
            <a:avLst/>
          </a:prstGeom>
          <a:noFill/>
        </p:spPr>
        <p:txBody>
          <a:bodyPr wrap="square">
            <a:spAutoFit/>
          </a:bodyPr>
          <a:lstStyle/>
          <a:p>
            <a:pPr algn="l"/>
            <a:r>
              <a:rPr sz="1000" b="0" i="0">
                <a:solidFill>
                  <a:srgbClr val="333333"/>
                </a:solidFill>
              </a:rPr>
              <a:t>Resources mapped to target roles</a:t>
            </a:r>
          </a:p>
        </p:txBody>
      </p:sp>
      <p:sp>
        <p:nvSpPr>
          <p:cNvPr id="20" name="Rectangle 19"/>
          <p:cNvSpPr/>
          <p:nvPr/>
        </p:nvSpPr>
        <p:spPr>
          <a:xfrm>
            <a:off x="320040" y="5148071"/>
            <a:ext cx="2651760" cy="868680"/>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15768" y="5468111"/>
            <a:ext cx="228600"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5202935"/>
            <a:ext cx="2331720" cy="749808"/>
          </a:xfrm>
          <a:prstGeom prst="rect">
            <a:avLst/>
          </a:prstGeom>
          <a:noFill/>
        </p:spPr>
        <p:txBody>
          <a:bodyPr wrap="square">
            <a:spAutoFit/>
          </a:bodyPr>
          <a:lstStyle/>
          <a:p>
            <a:pPr algn="l"/>
            <a:r>
              <a:rPr sz="1000" b="0" i="0">
                <a:solidFill>
                  <a:srgbClr val="333333"/>
                </a:solidFill>
              </a:rPr>
              <a:t>ARB &amp; design forums launched</a:t>
            </a:r>
          </a:p>
        </p:txBody>
      </p:sp>
      <p:sp>
        <p:nvSpPr>
          <p:cNvPr id="23" name="Rectangle 22"/>
          <p:cNvSpPr/>
          <p:nvPr/>
        </p:nvSpPr>
        <p:spPr>
          <a:xfrm>
            <a:off x="3182112" y="1325880"/>
            <a:ext cx="2834640" cy="594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73552" y="1389888"/>
            <a:ext cx="2651760" cy="502920"/>
          </a:xfrm>
          <a:prstGeom prst="rect">
            <a:avLst/>
          </a:prstGeom>
          <a:noFill/>
        </p:spPr>
        <p:txBody>
          <a:bodyPr wrap="square">
            <a:spAutoFit/>
          </a:bodyPr>
          <a:lstStyle/>
          <a:p>
            <a:pPr algn="ctr"/>
            <a:r>
              <a:rPr sz="1200" b="1" i="0">
                <a:solidFill>
                  <a:srgbClr val="FFFFFF"/>
                </a:solidFill>
              </a:rPr>
              <a:t>Deployment
&amp; Adoption</a:t>
            </a:r>
          </a:p>
        </p:txBody>
      </p:sp>
      <p:sp>
        <p:nvSpPr>
          <p:cNvPr id="25" name="Rectangle 24"/>
          <p:cNvSpPr/>
          <p:nvPr/>
        </p:nvSpPr>
        <p:spPr>
          <a:xfrm>
            <a:off x="3182112" y="1920240"/>
            <a:ext cx="2834640" cy="438912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273552" y="1993391"/>
            <a:ext cx="2651760" cy="868680"/>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69280" y="2313432"/>
            <a:ext cx="228600"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19272" y="2048255"/>
            <a:ext cx="2331720" cy="749808"/>
          </a:xfrm>
          <a:prstGeom prst="rect">
            <a:avLst/>
          </a:prstGeom>
          <a:noFill/>
        </p:spPr>
        <p:txBody>
          <a:bodyPr wrap="square">
            <a:spAutoFit/>
          </a:bodyPr>
          <a:lstStyle/>
          <a:p>
            <a:pPr algn="l"/>
            <a:r>
              <a:rPr sz="1000" b="0" i="0">
                <a:solidFill>
                  <a:srgbClr val="333333"/>
                </a:solidFill>
              </a:rPr>
              <a:t>Pilot domains with embedded architects assigned</a:t>
            </a:r>
          </a:p>
        </p:txBody>
      </p:sp>
      <p:sp>
        <p:nvSpPr>
          <p:cNvPr id="29" name="Rectangle 28"/>
          <p:cNvSpPr/>
          <p:nvPr/>
        </p:nvSpPr>
        <p:spPr>
          <a:xfrm>
            <a:off x="3273552" y="3044951"/>
            <a:ext cx="2651760" cy="868680"/>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0" y="3364991"/>
            <a:ext cx="228600"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19272" y="3099815"/>
            <a:ext cx="2331720" cy="749808"/>
          </a:xfrm>
          <a:prstGeom prst="rect">
            <a:avLst/>
          </a:prstGeom>
          <a:noFill/>
        </p:spPr>
        <p:txBody>
          <a:bodyPr wrap="square">
            <a:spAutoFit/>
          </a:bodyPr>
          <a:lstStyle/>
          <a:p>
            <a:pPr algn="l"/>
            <a:r>
              <a:rPr sz="1000" b="0" i="0">
                <a:solidFill>
                  <a:srgbClr val="333333"/>
                </a:solidFill>
              </a:rPr>
              <a:t>% of critical initiatives with named architect</a:t>
            </a:r>
          </a:p>
        </p:txBody>
      </p:sp>
      <p:sp>
        <p:nvSpPr>
          <p:cNvPr id="32" name="Rectangle 31"/>
          <p:cNvSpPr/>
          <p:nvPr/>
        </p:nvSpPr>
        <p:spPr>
          <a:xfrm>
            <a:off x="3273552" y="4096511"/>
            <a:ext cx="2651760" cy="868680"/>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669280" y="4416551"/>
            <a:ext cx="228600"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19272" y="4151375"/>
            <a:ext cx="2331720" cy="749808"/>
          </a:xfrm>
          <a:prstGeom prst="rect">
            <a:avLst/>
          </a:prstGeom>
          <a:noFill/>
        </p:spPr>
        <p:txBody>
          <a:bodyPr wrap="square">
            <a:spAutoFit/>
          </a:bodyPr>
          <a:lstStyle/>
          <a:p>
            <a:pPr algn="l"/>
            <a:r>
              <a:rPr sz="1000" b="0" i="0">
                <a:solidFill>
                  <a:srgbClr val="333333"/>
                </a:solidFill>
              </a:rPr>
              <a:t>Architecture intake / review SLA achieved</a:t>
            </a:r>
          </a:p>
        </p:txBody>
      </p:sp>
      <p:sp>
        <p:nvSpPr>
          <p:cNvPr id="35" name="Rectangle 34"/>
          <p:cNvSpPr/>
          <p:nvPr/>
        </p:nvSpPr>
        <p:spPr>
          <a:xfrm>
            <a:off x="6135624" y="1325880"/>
            <a:ext cx="2834640" cy="594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27064" y="1389888"/>
            <a:ext cx="2651760" cy="502920"/>
          </a:xfrm>
          <a:prstGeom prst="rect">
            <a:avLst/>
          </a:prstGeom>
          <a:noFill/>
        </p:spPr>
        <p:txBody>
          <a:bodyPr wrap="square">
            <a:spAutoFit/>
          </a:bodyPr>
          <a:lstStyle/>
          <a:p>
            <a:pPr algn="ctr"/>
            <a:r>
              <a:rPr sz="1200" b="1" i="0">
                <a:solidFill>
                  <a:srgbClr val="FFFFFF"/>
                </a:solidFill>
              </a:rPr>
              <a:t>Execution
&amp; Control</a:t>
            </a:r>
          </a:p>
        </p:txBody>
      </p:sp>
      <p:sp>
        <p:nvSpPr>
          <p:cNvPr id="37" name="Rectangle 36"/>
          <p:cNvSpPr/>
          <p:nvPr/>
        </p:nvSpPr>
        <p:spPr>
          <a:xfrm>
            <a:off x="6135624" y="1920240"/>
            <a:ext cx="2834640" cy="438912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27064" y="1993391"/>
            <a:ext cx="2651760" cy="868680"/>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622792" y="2313432"/>
            <a:ext cx="228600"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72784" y="2048255"/>
            <a:ext cx="2331720" cy="749808"/>
          </a:xfrm>
          <a:prstGeom prst="rect">
            <a:avLst/>
          </a:prstGeom>
          <a:noFill/>
        </p:spPr>
        <p:txBody>
          <a:bodyPr wrap="square">
            <a:spAutoFit/>
          </a:bodyPr>
          <a:lstStyle/>
          <a:p>
            <a:pPr algn="l"/>
            <a:r>
              <a:rPr sz="1000" b="0" i="0">
                <a:solidFill>
                  <a:srgbClr val="333333"/>
                </a:solidFill>
              </a:rPr>
              <a:t>Material architecture decisions logged</a:t>
            </a:r>
          </a:p>
        </p:txBody>
      </p:sp>
      <p:sp>
        <p:nvSpPr>
          <p:cNvPr id="41" name="Rectangle 40"/>
          <p:cNvSpPr/>
          <p:nvPr/>
        </p:nvSpPr>
        <p:spPr>
          <a:xfrm>
            <a:off x="6227064" y="3044951"/>
            <a:ext cx="2651760" cy="868680"/>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622792" y="3364991"/>
            <a:ext cx="228600"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72784" y="3099815"/>
            <a:ext cx="2331720" cy="749808"/>
          </a:xfrm>
          <a:prstGeom prst="rect">
            <a:avLst/>
          </a:prstGeom>
          <a:noFill/>
        </p:spPr>
        <p:txBody>
          <a:bodyPr wrap="square">
            <a:spAutoFit/>
          </a:bodyPr>
          <a:lstStyle/>
          <a:p>
            <a:pPr algn="l"/>
            <a:r>
              <a:rPr sz="1000" b="0" i="0">
                <a:solidFill>
                  <a:srgbClr val="333333"/>
                </a:solidFill>
              </a:rPr>
              <a:t>First standards pack published</a:t>
            </a:r>
          </a:p>
        </p:txBody>
      </p:sp>
      <p:sp>
        <p:nvSpPr>
          <p:cNvPr id="44" name="Rectangle 43"/>
          <p:cNvSpPr/>
          <p:nvPr/>
        </p:nvSpPr>
        <p:spPr>
          <a:xfrm>
            <a:off x="6227064" y="4096511"/>
            <a:ext cx="2651760" cy="868680"/>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622792" y="4416551"/>
            <a:ext cx="228600"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72784" y="4151375"/>
            <a:ext cx="2331720" cy="749808"/>
          </a:xfrm>
          <a:prstGeom prst="rect">
            <a:avLst/>
          </a:prstGeom>
          <a:noFill/>
        </p:spPr>
        <p:txBody>
          <a:bodyPr wrap="square">
            <a:spAutoFit/>
          </a:bodyPr>
          <a:lstStyle/>
          <a:p>
            <a:pPr algn="l"/>
            <a:r>
              <a:rPr sz="1000" b="0" i="0">
                <a:solidFill>
                  <a:srgbClr val="333333"/>
                </a:solidFill>
              </a:rPr>
              <a:t>Matrix model live in selected pilots</a:t>
            </a:r>
          </a:p>
        </p:txBody>
      </p:sp>
      <p:sp>
        <p:nvSpPr>
          <p:cNvPr id="47" name="Rectangle 46"/>
          <p:cNvSpPr/>
          <p:nvPr/>
        </p:nvSpPr>
        <p:spPr>
          <a:xfrm>
            <a:off x="9089136" y="1325880"/>
            <a:ext cx="2834640" cy="594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80576" y="1389888"/>
            <a:ext cx="2651760" cy="502920"/>
          </a:xfrm>
          <a:prstGeom prst="rect">
            <a:avLst/>
          </a:prstGeom>
          <a:noFill/>
        </p:spPr>
        <p:txBody>
          <a:bodyPr wrap="square">
            <a:spAutoFit/>
          </a:bodyPr>
          <a:lstStyle/>
          <a:p>
            <a:pPr algn="ctr"/>
            <a:r>
              <a:rPr sz="1200" b="1" i="0">
                <a:solidFill>
                  <a:srgbClr val="FFFFFF"/>
                </a:solidFill>
              </a:rPr>
              <a:t>Innovation</a:t>
            </a:r>
          </a:p>
        </p:txBody>
      </p:sp>
      <p:sp>
        <p:nvSpPr>
          <p:cNvPr id="49" name="Rectangle 48"/>
          <p:cNvSpPr/>
          <p:nvPr/>
        </p:nvSpPr>
        <p:spPr>
          <a:xfrm>
            <a:off x="9089136" y="1920240"/>
            <a:ext cx="2834640" cy="438912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9180576" y="1993391"/>
            <a:ext cx="2651760" cy="868680"/>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11576303" y="2313432"/>
            <a:ext cx="228600"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226296" y="2048255"/>
            <a:ext cx="2331720" cy="749808"/>
          </a:xfrm>
          <a:prstGeom prst="rect">
            <a:avLst/>
          </a:prstGeom>
          <a:noFill/>
        </p:spPr>
        <p:txBody>
          <a:bodyPr wrap="square">
            <a:spAutoFit/>
          </a:bodyPr>
          <a:lstStyle/>
          <a:p>
            <a:pPr algn="l"/>
            <a:r>
              <a:rPr sz="1000" b="0" i="0">
                <a:solidFill>
                  <a:srgbClr val="333333"/>
                </a:solidFill>
              </a:rPr>
              <a:t>Innovation capability charter approved</a:t>
            </a:r>
          </a:p>
        </p:txBody>
      </p:sp>
      <p:sp>
        <p:nvSpPr>
          <p:cNvPr id="53" name="Rectangle 52"/>
          <p:cNvSpPr/>
          <p:nvPr/>
        </p:nvSpPr>
        <p:spPr>
          <a:xfrm>
            <a:off x="9180576" y="3044951"/>
            <a:ext cx="2651760" cy="868680"/>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1576303" y="3364991"/>
            <a:ext cx="228600"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226296" y="3099815"/>
            <a:ext cx="2331720" cy="749808"/>
          </a:xfrm>
          <a:prstGeom prst="rect">
            <a:avLst/>
          </a:prstGeom>
          <a:noFill/>
        </p:spPr>
        <p:txBody>
          <a:bodyPr wrap="square">
            <a:spAutoFit/>
          </a:bodyPr>
          <a:lstStyle/>
          <a:p>
            <a:pPr algn="l"/>
            <a:r>
              <a:rPr sz="1000" b="0" i="0">
                <a:solidFill>
                  <a:srgbClr val="333333"/>
                </a:solidFill>
              </a:rPr>
              <a:t>POC / sandbox governance approved</a:t>
            </a:r>
          </a:p>
        </p:txBody>
      </p:sp>
      <p:sp>
        <p:nvSpPr>
          <p:cNvPr id="56" name="Rectangle 55"/>
          <p:cNvSpPr/>
          <p:nvPr/>
        </p:nvSpPr>
        <p:spPr>
          <a:xfrm>
            <a:off x="9180576" y="4096511"/>
            <a:ext cx="2651760" cy="868680"/>
          </a:xfrm>
          <a:prstGeom prst="rect">
            <a:avLst/>
          </a:prstGeom>
          <a:solidFill>
            <a:srgbClr val="FFFFFF"/>
          </a:solidFill>
          <a:ln w="9525">
            <a:solidFill>
              <a:srgbClr val="D6E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1576303" y="4416551"/>
            <a:ext cx="228600"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226296" y="4151375"/>
            <a:ext cx="2331720" cy="749808"/>
          </a:xfrm>
          <a:prstGeom prst="rect">
            <a:avLst/>
          </a:prstGeom>
          <a:noFill/>
        </p:spPr>
        <p:txBody>
          <a:bodyPr wrap="square">
            <a:spAutoFit/>
          </a:bodyPr>
          <a:lstStyle/>
          <a:p>
            <a:pPr algn="l"/>
            <a:r>
              <a:rPr sz="1000" b="0" i="0">
                <a:solidFill>
                  <a:srgbClr val="333333"/>
                </a:solidFill>
              </a:rPr>
              <a:t>First priority innovation use cases selected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9728"/>
            <a:ext cx="11430000" cy="685800"/>
          </a:xfrm>
          <a:prstGeom prst="rect">
            <a:avLst/>
          </a:prstGeom>
          <a:noFill/>
        </p:spPr>
        <p:txBody>
          <a:bodyPr wrap="square">
            <a:spAutoFit/>
          </a:bodyPr>
          <a:lstStyle/>
          <a:p>
            <a:pPr algn="l"/>
            <a:r>
              <a:rPr sz="2600" b="1" i="0">
                <a:solidFill>
                  <a:srgbClr val="FFFFFF"/>
                </a:solidFill>
              </a:rPr>
              <a:t>Year-One KPI Framework</a:t>
            </a:r>
          </a:p>
        </p:txBody>
      </p:sp>
      <p:sp>
        <p:nvSpPr>
          <p:cNvPr id="5" name="Rectangle 4"/>
          <p:cNvSpPr/>
          <p:nvPr/>
        </p:nvSpPr>
        <p:spPr>
          <a:xfrm>
            <a:off x="0" y="105156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430000" cy="274320"/>
          </a:xfrm>
          <a:prstGeom prst="rect">
            <a:avLst/>
          </a:prstGeom>
          <a:noFill/>
        </p:spPr>
        <p:txBody>
          <a:bodyPr wrap="square">
            <a:spAutoFit/>
          </a:bodyPr>
          <a:lstStyle/>
          <a:p>
            <a:pPr algn="ctr"/>
            <a:r>
              <a:rPr sz="1100" b="0" i="0">
                <a:solidFill>
                  <a:srgbClr val="D6E8F7"/>
                </a:solidFill>
              </a:rPr>
              <a:t>Value metrics — coverage, speed, reuse, alignment, reduced design risk</a:t>
            </a:r>
          </a:p>
        </p:txBody>
      </p:sp>
      <p:sp>
        <p:nvSpPr>
          <p:cNvPr id="8" name="Rectangle 7"/>
          <p:cNvSpPr/>
          <p:nvPr/>
        </p:nvSpPr>
        <p:spPr>
          <a:xfrm>
            <a:off x="274320" y="1325880"/>
            <a:ext cx="2240280" cy="5943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 y="1389888"/>
            <a:ext cx="2093976" cy="502920"/>
          </a:xfrm>
          <a:prstGeom prst="rect">
            <a:avLst/>
          </a:prstGeom>
          <a:noFill/>
        </p:spPr>
        <p:txBody>
          <a:bodyPr wrap="square">
            <a:spAutoFit/>
          </a:bodyPr>
          <a:lstStyle/>
          <a:p>
            <a:pPr algn="ctr"/>
            <a:r>
              <a:rPr sz="1100" b="1" i="0">
                <a:solidFill>
                  <a:srgbClr val="FFFFFF"/>
                </a:solidFill>
              </a:rPr>
              <a:t>Coverage &amp;
Engagement</a:t>
            </a:r>
          </a:p>
        </p:txBody>
      </p:sp>
      <p:sp>
        <p:nvSpPr>
          <p:cNvPr id="10" name="Rectangle 9"/>
          <p:cNvSpPr/>
          <p:nvPr/>
        </p:nvSpPr>
        <p:spPr>
          <a:xfrm>
            <a:off x="274320" y="1920240"/>
            <a:ext cx="2240280" cy="438912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993391"/>
            <a:ext cx="2057400" cy="4206240"/>
          </a:xfrm>
          <a:prstGeom prst="rect">
            <a:avLst/>
          </a:prstGeom>
          <a:noFill/>
        </p:spPr>
        <p:txBody>
          <a:bodyPr wrap="square">
            <a:spAutoFit/>
          </a:bodyPr>
          <a:lstStyle/>
          <a:p>
            <a:pPr algn="l">
              <a:spcAft>
                <a:spcPts val="800"/>
              </a:spcAft>
            </a:pPr>
            <a:r>
              <a:rPr sz="1000" b="0">
                <a:solidFill>
                  <a:srgbClr val="333333"/>
                </a:solidFill>
              </a:rPr>
              <a:t>• % of strategic initiatives covered</a:t>
            </a:r>
          </a:p>
          <a:p>
            <a:pPr algn="l">
              <a:spcAft>
                <a:spcPts val="800"/>
              </a:spcAft>
            </a:pPr>
            <a:r>
              <a:rPr sz="1000" b="0">
                <a:solidFill>
                  <a:srgbClr val="333333"/>
                </a:solidFill>
              </a:rPr>
              <a:t>• % engaging architecture early</a:t>
            </a:r>
          </a:p>
        </p:txBody>
      </p:sp>
      <p:sp>
        <p:nvSpPr>
          <p:cNvPr id="12" name="Rectangle 11"/>
          <p:cNvSpPr/>
          <p:nvPr/>
        </p:nvSpPr>
        <p:spPr>
          <a:xfrm>
            <a:off x="2615184" y="1325880"/>
            <a:ext cx="2240280" cy="594360"/>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88336" y="1389888"/>
            <a:ext cx="2093976" cy="502920"/>
          </a:xfrm>
          <a:prstGeom prst="rect">
            <a:avLst/>
          </a:prstGeom>
          <a:noFill/>
        </p:spPr>
        <p:txBody>
          <a:bodyPr wrap="square">
            <a:spAutoFit/>
          </a:bodyPr>
          <a:lstStyle/>
          <a:p>
            <a:pPr algn="ctr"/>
            <a:r>
              <a:rPr sz="1100" b="1" i="0">
                <a:solidFill>
                  <a:srgbClr val="FFFFFF"/>
                </a:solidFill>
              </a:rPr>
              <a:t>Governance</a:t>
            </a:r>
          </a:p>
        </p:txBody>
      </p:sp>
      <p:sp>
        <p:nvSpPr>
          <p:cNvPr id="14" name="Rectangle 13"/>
          <p:cNvSpPr/>
          <p:nvPr/>
        </p:nvSpPr>
        <p:spPr>
          <a:xfrm>
            <a:off x="2615184" y="1920240"/>
            <a:ext cx="2240280" cy="438912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06624" y="1993391"/>
            <a:ext cx="2057400" cy="4206240"/>
          </a:xfrm>
          <a:prstGeom prst="rect">
            <a:avLst/>
          </a:prstGeom>
          <a:noFill/>
        </p:spPr>
        <p:txBody>
          <a:bodyPr wrap="square">
            <a:spAutoFit/>
          </a:bodyPr>
          <a:lstStyle/>
          <a:p>
            <a:pPr algn="l">
              <a:spcAft>
                <a:spcPts val="800"/>
              </a:spcAft>
            </a:pPr>
            <a:r>
              <a:rPr sz="1000" b="0">
                <a:solidFill>
                  <a:srgbClr val="333333"/>
                </a:solidFill>
              </a:rPr>
              <a:t>• Review turnaround time</a:t>
            </a:r>
          </a:p>
          <a:p>
            <a:pPr algn="l">
              <a:spcAft>
                <a:spcPts val="800"/>
              </a:spcAft>
            </a:pPr>
            <a:r>
              <a:rPr sz="1000" b="0">
                <a:solidFill>
                  <a:srgbClr val="333333"/>
                </a:solidFill>
              </a:rPr>
              <a:t>• Exception rate</a:t>
            </a:r>
          </a:p>
          <a:p>
            <a:pPr algn="l">
              <a:spcAft>
                <a:spcPts val="800"/>
              </a:spcAft>
            </a:pPr>
            <a:r>
              <a:rPr sz="1000" b="0">
                <a:solidFill>
                  <a:srgbClr val="333333"/>
                </a:solidFill>
              </a:rPr>
              <a:t>• Exception aging</a:t>
            </a:r>
          </a:p>
        </p:txBody>
      </p:sp>
      <p:sp>
        <p:nvSpPr>
          <p:cNvPr id="16" name="Rectangle 15"/>
          <p:cNvSpPr/>
          <p:nvPr/>
        </p:nvSpPr>
        <p:spPr>
          <a:xfrm>
            <a:off x="4956048" y="1325880"/>
            <a:ext cx="2240280" cy="594360"/>
          </a:xfrm>
          <a:prstGeom prst="rect">
            <a:avLst/>
          </a:prstGeom>
          <a:solidFill>
            <a:srgbClr val="0E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1389888"/>
            <a:ext cx="2093976" cy="502920"/>
          </a:xfrm>
          <a:prstGeom prst="rect">
            <a:avLst/>
          </a:prstGeom>
          <a:noFill/>
        </p:spPr>
        <p:txBody>
          <a:bodyPr wrap="square">
            <a:spAutoFit/>
          </a:bodyPr>
          <a:lstStyle/>
          <a:p>
            <a:pPr algn="ctr"/>
            <a:r>
              <a:rPr sz="1100" b="1" i="0">
                <a:solidFill>
                  <a:srgbClr val="FFFFFF"/>
                </a:solidFill>
              </a:rPr>
              <a:t>Reuse &amp;
Standardization</a:t>
            </a:r>
          </a:p>
        </p:txBody>
      </p:sp>
      <p:sp>
        <p:nvSpPr>
          <p:cNvPr id="18" name="Rectangle 17"/>
          <p:cNvSpPr/>
          <p:nvPr/>
        </p:nvSpPr>
        <p:spPr>
          <a:xfrm>
            <a:off x="4956048" y="1920240"/>
            <a:ext cx="2240280" cy="438912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47488" y="1993391"/>
            <a:ext cx="2057400" cy="4206240"/>
          </a:xfrm>
          <a:prstGeom prst="rect">
            <a:avLst/>
          </a:prstGeom>
          <a:noFill/>
        </p:spPr>
        <p:txBody>
          <a:bodyPr wrap="square">
            <a:spAutoFit/>
          </a:bodyPr>
          <a:lstStyle/>
          <a:p>
            <a:pPr algn="l">
              <a:spcAft>
                <a:spcPts val="800"/>
              </a:spcAft>
            </a:pPr>
            <a:r>
              <a:rPr sz="1000" b="0">
                <a:solidFill>
                  <a:srgbClr val="333333"/>
                </a:solidFill>
              </a:rPr>
              <a:t>• % reuse of approved patterns</a:t>
            </a:r>
          </a:p>
          <a:p>
            <a:pPr algn="l">
              <a:spcAft>
                <a:spcPts val="800"/>
              </a:spcAft>
            </a:pPr>
            <a:r>
              <a:rPr sz="1000" b="0">
                <a:solidFill>
                  <a:srgbClr val="333333"/>
                </a:solidFill>
              </a:rPr>
              <a:t>• % new APIs on approved platform</a:t>
            </a:r>
          </a:p>
          <a:p>
            <a:pPr algn="l">
              <a:spcAft>
                <a:spcPts val="800"/>
              </a:spcAft>
            </a:pPr>
            <a:r>
              <a:rPr sz="1000" b="0">
                <a:solidFill>
                  <a:srgbClr val="333333"/>
                </a:solidFill>
              </a:rPr>
              <a:t>• % investments aligned to target state</a:t>
            </a:r>
          </a:p>
        </p:txBody>
      </p:sp>
      <p:sp>
        <p:nvSpPr>
          <p:cNvPr id="20" name="Rectangle 19"/>
          <p:cNvSpPr/>
          <p:nvPr/>
        </p:nvSpPr>
        <p:spPr>
          <a:xfrm>
            <a:off x="7296912" y="1325880"/>
            <a:ext cx="2240280" cy="594360"/>
          </a:xfrm>
          <a:prstGeom prst="rect">
            <a:avLst/>
          </a:prstGeom>
          <a:solidFill>
            <a:srgbClr val="8B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70063" y="1389888"/>
            <a:ext cx="2093976" cy="502920"/>
          </a:xfrm>
          <a:prstGeom prst="rect">
            <a:avLst/>
          </a:prstGeom>
          <a:noFill/>
        </p:spPr>
        <p:txBody>
          <a:bodyPr wrap="square">
            <a:spAutoFit/>
          </a:bodyPr>
          <a:lstStyle/>
          <a:p>
            <a:pPr algn="ctr"/>
            <a:r>
              <a:rPr sz="1100" b="1" i="0">
                <a:solidFill>
                  <a:srgbClr val="FFFFFF"/>
                </a:solidFill>
              </a:rPr>
              <a:t>Quality
&amp; Risk</a:t>
            </a:r>
          </a:p>
        </p:txBody>
      </p:sp>
      <p:sp>
        <p:nvSpPr>
          <p:cNvPr id="22" name="Rectangle 21"/>
          <p:cNvSpPr/>
          <p:nvPr/>
        </p:nvSpPr>
        <p:spPr>
          <a:xfrm>
            <a:off x="7296912" y="1920240"/>
            <a:ext cx="2240280" cy="438912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88352" y="1993391"/>
            <a:ext cx="2057400" cy="4206240"/>
          </a:xfrm>
          <a:prstGeom prst="rect">
            <a:avLst/>
          </a:prstGeom>
          <a:noFill/>
        </p:spPr>
        <p:txBody>
          <a:bodyPr wrap="square">
            <a:spAutoFit/>
          </a:bodyPr>
          <a:lstStyle/>
          <a:p>
            <a:pPr algn="l">
              <a:spcAft>
                <a:spcPts val="800"/>
              </a:spcAft>
            </a:pPr>
            <a:r>
              <a:rPr sz="1000" b="0">
                <a:solidFill>
                  <a:srgbClr val="333333"/>
                </a:solidFill>
              </a:rPr>
              <a:t>• Architecture debt register coverage</a:t>
            </a:r>
          </a:p>
          <a:p>
            <a:pPr algn="l">
              <a:spcAft>
                <a:spcPts val="800"/>
              </a:spcAft>
            </a:pPr>
            <a:r>
              <a:rPr sz="1000" b="0">
                <a:solidFill>
                  <a:srgbClr val="333333"/>
                </a:solidFill>
              </a:rPr>
              <a:t>• Reduction in production issues from design gaps</a:t>
            </a:r>
          </a:p>
          <a:p>
            <a:pPr algn="l">
              <a:spcAft>
                <a:spcPts val="800"/>
              </a:spcAft>
            </a:pPr>
            <a:r>
              <a:rPr sz="1000" b="0">
                <a:solidFill>
                  <a:srgbClr val="333333"/>
                </a:solidFill>
              </a:rPr>
              <a:t>• Stakeholder satisfaction score</a:t>
            </a:r>
          </a:p>
        </p:txBody>
      </p:sp>
      <p:sp>
        <p:nvSpPr>
          <p:cNvPr id="24" name="Rectangle 23"/>
          <p:cNvSpPr/>
          <p:nvPr/>
        </p:nvSpPr>
        <p:spPr>
          <a:xfrm>
            <a:off x="9637776" y="1325880"/>
            <a:ext cx="2240280" cy="594360"/>
          </a:xfrm>
          <a:prstGeom prst="rect">
            <a:avLst/>
          </a:prstGeom>
          <a:solidFill>
            <a:srgbClr val="4A23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10928" y="1389888"/>
            <a:ext cx="2093976" cy="502920"/>
          </a:xfrm>
          <a:prstGeom prst="rect">
            <a:avLst/>
          </a:prstGeom>
          <a:noFill/>
        </p:spPr>
        <p:txBody>
          <a:bodyPr wrap="square">
            <a:spAutoFit/>
          </a:bodyPr>
          <a:lstStyle/>
          <a:p>
            <a:pPr algn="ctr"/>
            <a:r>
              <a:rPr sz="1100" b="1" i="0">
                <a:solidFill>
                  <a:srgbClr val="FFFFFF"/>
                </a:solidFill>
              </a:rPr>
              <a:t>Innovation</a:t>
            </a:r>
          </a:p>
        </p:txBody>
      </p:sp>
      <p:sp>
        <p:nvSpPr>
          <p:cNvPr id="26" name="Rectangle 25"/>
          <p:cNvSpPr/>
          <p:nvPr/>
        </p:nvSpPr>
        <p:spPr>
          <a:xfrm>
            <a:off x="9637776" y="1920240"/>
            <a:ext cx="2240280" cy="438912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29216" y="1993391"/>
            <a:ext cx="2057400" cy="4206240"/>
          </a:xfrm>
          <a:prstGeom prst="rect">
            <a:avLst/>
          </a:prstGeom>
          <a:noFill/>
        </p:spPr>
        <p:txBody>
          <a:bodyPr wrap="square">
            <a:spAutoFit/>
          </a:bodyPr>
          <a:lstStyle/>
          <a:p>
            <a:pPr algn="l">
              <a:spcAft>
                <a:spcPts val="800"/>
              </a:spcAft>
            </a:pPr>
            <a:r>
              <a:rPr sz="1000" b="0">
                <a:solidFill>
                  <a:srgbClr val="333333"/>
                </a:solidFill>
              </a:rPr>
              <a:t>• Quarterly tech radar published</a:t>
            </a:r>
          </a:p>
          <a:p>
            <a:pPr algn="l">
              <a:spcAft>
                <a:spcPts val="800"/>
              </a:spcAft>
            </a:pPr>
            <a:r>
              <a:rPr sz="1000" b="0">
                <a:solidFill>
                  <a:srgbClr val="333333"/>
                </a:solidFill>
              </a:rPr>
              <a:t>• Use cases triaged</a:t>
            </a:r>
          </a:p>
          <a:p>
            <a:pPr algn="l">
              <a:spcAft>
                <a:spcPts val="800"/>
              </a:spcAft>
            </a:pPr>
            <a:r>
              <a:rPr sz="1000" b="0">
                <a:solidFill>
                  <a:srgbClr val="333333"/>
                </a:solidFill>
              </a:rPr>
              <a:t>• POC approval turnaround</a:t>
            </a:r>
          </a:p>
          <a:p>
            <a:pPr algn="l">
              <a:spcAft>
                <a:spcPts val="800"/>
              </a:spcAft>
            </a:pPr>
            <a:r>
              <a:rPr sz="1000" b="0">
                <a:solidFill>
                  <a:srgbClr val="333333"/>
                </a:solidFill>
              </a:rPr>
              <a:t>• % POCs moved to pilot / roadmap</a:t>
            </a:r>
          </a:p>
          <a:p>
            <a:pPr algn="l">
              <a:spcAft>
                <a:spcPts val="800"/>
              </a:spcAft>
            </a:pPr>
            <a:r>
              <a:rPr sz="1000" b="0">
                <a:solidFill>
                  <a:srgbClr val="333333"/>
                </a:solidFill>
              </a:rPr>
              <a:t>• Reusable patterns from experiments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515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09728"/>
            <a:ext cx="11430000" cy="685800"/>
          </a:xfrm>
          <a:prstGeom prst="rect">
            <a:avLst/>
          </a:prstGeom>
          <a:noFill/>
        </p:spPr>
        <p:txBody>
          <a:bodyPr wrap="square">
            <a:spAutoFit/>
          </a:bodyPr>
          <a:lstStyle/>
          <a:p>
            <a:pPr algn="l"/>
            <a:r>
              <a:rPr sz="2600" b="1" i="0">
                <a:solidFill>
                  <a:srgbClr val="FFFFFF"/>
                </a:solidFill>
              </a:rPr>
              <a:t>Key Risks, Mitigations, and Leadership Decision Required</a:t>
            </a:r>
          </a:p>
        </p:txBody>
      </p:sp>
      <p:sp>
        <p:nvSpPr>
          <p:cNvPr id="5" name="Rectangle 4"/>
          <p:cNvSpPr/>
          <p:nvPr/>
        </p:nvSpPr>
        <p:spPr>
          <a:xfrm>
            <a:off x="0" y="1051560"/>
            <a:ext cx="12188952" cy="54864"/>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92240"/>
            <a:ext cx="12188952" cy="365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11430000" cy="274320"/>
          </a:xfrm>
          <a:prstGeom prst="rect">
            <a:avLst/>
          </a:prstGeom>
          <a:noFill/>
        </p:spPr>
        <p:txBody>
          <a:bodyPr wrap="square">
            <a:spAutoFit/>
          </a:bodyPr>
          <a:lstStyle/>
          <a:p>
            <a:pPr algn="ctr"/>
            <a:r>
              <a:rPr sz="1100" b="0" i="0">
                <a:solidFill>
                  <a:srgbClr val="D6E8F7"/>
                </a:solidFill>
              </a:rPr>
              <a:t>This model gives the bank the right balance between control, delivery proximity, and future readiness.</a:t>
            </a:r>
          </a:p>
        </p:txBody>
      </p:sp>
      <p:sp>
        <p:nvSpPr>
          <p:cNvPr id="8" name="Rectangle 7"/>
          <p:cNvSpPr/>
          <p:nvPr/>
        </p:nvSpPr>
        <p:spPr>
          <a:xfrm>
            <a:off x="274320" y="1325880"/>
            <a:ext cx="3657600" cy="384048"/>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362456"/>
            <a:ext cx="3474720" cy="320040"/>
          </a:xfrm>
          <a:prstGeom prst="rect">
            <a:avLst/>
          </a:prstGeom>
          <a:noFill/>
        </p:spPr>
        <p:txBody>
          <a:bodyPr wrap="square">
            <a:spAutoFit/>
          </a:bodyPr>
          <a:lstStyle/>
          <a:p>
            <a:pPr algn="l"/>
            <a:r>
              <a:rPr sz="1300" b="1" i="0">
                <a:solidFill>
                  <a:srgbClr val="FFFFFF"/>
                </a:solidFill>
              </a:rPr>
              <a:t>Key Risks</a:t>
            </a:r>
          </a:p>
        </p:txBody>
      </p:sp>
      <p:sp>
        <p:nvSpPr>
          <p:cNvPr id="10" name="Rectangle 9"/>
          <p:cNvSpPr/>
          <p:nvPr/>
        </p:nvSpPr>
        <p:spPr>
          <a:xfrm>
            <a:off x="274320" y="1709928"/>
            <a:ext cx="3657600" cy="4599432"/>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 y="1764792"/>
            <a:ext cx="3438144" cy="4480560"/>
          </a:xfrm>
          <a:prstGeom prst="rect">
            <a:avLst/>
          </a:prstGeom>
          <a:noFill/>
        </p:spPr>
        <p:txBody>
          <a:bodyPr wrap="square">
            <a:spAutoFit/>
          </a:bodyPr>
          <a:lstStyle/>
          <a:p>
            <a:pPr algn="l">
              <a:spcAft>
                <a:spcPts val="400"/>
              </a:spcAft>
            </a:pPr>
            <a:r>
              <a:rPr sz="1200" b="0">
                <a:solidFill>
                  <a:srgbClr val="333333"/>
                </a:solidFill>
              </a:rPr>
              <a:t>• Matrix confusion</a:t>
            </a:r>
          </a:p>
          <a:p>
            <a:pPr algn="l">
              <a:spcAft>
                <a:spcPts val="400"/>
              </a:spcAft>
            </a:pPr>
            <a:r>
              <a:rPr sz="1200" b="0">
                <a:solidFill>
                  <a:srgbClr val="333333"/>
                </a:solidFill>
              </a:rPr>
              <a:t>• Local capture of embedded architects</a:t>
            </a:r>
          </a:p>
          <a:p>
            <a:pPr algn="l">
              <a:spcAft>
                <a:spcPts val="400"/>
              </a:spcAft>
            </a:pPr>
            <a:r>
              <a:rPr sz="1200" b="0">
                <a:solidFill>
                  <a:srgbClr val="333333"/>
                </a:solidFill>
              </a:rPr>
              <a:t>• Governance becoming too heavy</a:t>
            </a:r>
          </a:p>
          <a:p>
            <a:pPr algn="l">
              <a:spcAft>
                <a:spcPts val="400"/>
              </a:spcAft>
            </a:pPr>
            <a:r>
              <a:rPr sz="1200" b="0">
                <a:solidFill>
                  <a:srgbClr val="333333"/>
                </a:solidFill>
              </a:rPr>
              <a:t>• Blurred boundaries with delivery, data, security &amp; GRC</a:t>
            </a:r>
          </a:p>
          <a:p>
            <a:pPr algn="l">
              <a:spcAft>
                <a:spcPts val="400"/>
              </a:spcAft>
            </a:pPr>
            <a:r>
              <a:rPr sz="1200" b="0">
                <a:solidFill>
                  <a:srgbClr val="333333"/>
                </a:solidFill>
              </a:rPr>
              <a:t>• Innovation becoming activity without value</a:t>
            </a:r>
          </a:p>
        </p:txBody>
      </p:sp>
      <p:sp>
        <p:nvSpPr>
          <p:cNvPr id="12" name="Rectangle 11"/>
          <p:cNvSpPr/>
          <p:nvPr/>
        </p:nvSpPr>
        <p:spPr>
          <a:xfrm>
            <a:off x="4114800" y="1325880"/>
            <a:ext cx="3657600" cy="384048"/>
          </a:xfrm>
          <a:prstGeom prst="rect">
            <a:avLst/>
          </a:prstGeom>
          <a:solidFill>
            <a:srgbClr val="1A5F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06240" y="1362456"/>
            <a:ext cx="3474720" cy="320040"/>
          </a:xfrm>
          <a:prstGeom prst="rect">
            <a:avLst/>
          </a:prstGeom>
          <a:noFill/>
        </p:spPr>
        <p:txBody>
          <a:bodyPr wrap="square">
            <a:spAutoFit/>
          </a:bodyPr>
          <a:lstStyle/>
          <a:p>
            <a:pPr algn="l"/>
            <a:r>
              <a:rPr sz="1300" b="1" i="0">
                <a:solidFill>
                  <a:srgbClr val="FFFFFF"/>
                </a:solidFill>
              </a:rPr>
              <a:t>Mitigations</a:t>
            </a:r>
          </a:p>
        </p:txBody>
      </p:sp>
      <p:sp>
        <p:nvSpPr>
          <p:cNvPr id="14" name="Rectangle 13"/>
          <p:cNvSpPr/>
          <p:nvPr/>
        </p:nvSpPr>
        <p:spPr>
          <a:xfrm>
            <a:off x="4114800" y="1709928"/>
            <a:ext cx="3657600" cy="4599432"/>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24528" y="1764792"/>
            <a:ext cx="3438144" cy="4480560"/>
          </a:xfrm>
          <a:prstGeom prst="rect">
            <a:avLst/>
          </a:prstGeom>
          <a:noFill/>
        </p:spPr>
        <p:txBody>
          <a:bodyPr wrap="square">
            <a:spAutoFit/>
          </a:bodyPr>
          <a:lstStyle/>
          <a:p>
            <a:pPr algn="l">
              <a:spcAft>
                <a:spcPts val="400"/>
              </a:spcAft>
            </a:pPr>
            <a:r>
              <a:rPr sz="1200" b="0">
                <a:solidFill>
                  <a:srgbClr val="333333"/>
                </a:solidFill>
              </a:rPr>
              <a:t>• Clear decision rights and RACI</a:t>
            </a:r>
          </a:p>
          <a:p>
            <a:pPr algn="l">
              <a:spcAft>
                <a:spcPts val="400"/>
              </a:spcAft>
            </a:pPr>
            <a:r>
              <a:rPr sz="1200" b="0">
                <a:solidFill>
                  <a:srgbClr val="333333"/>
                </a:solidFill>
              </a:rPr>
              <a:t>• Strong central functional reporting</a:t>
            </a:r>
          </a:p>
          <a:p>
            <a:pPr algn="l">
              <a:spcAft>
                <a:spcPts val="400"/>
              </a:spcAft>
            </a:pPr>
            <a:r>
              <a:rPr sz="1200" b="0">
                <a:solidFill>
                  <a:srgbClr val="333333"/>
                </a:solidFill>
              </a:rPr>
              <a:t>• Tiered governance and exception-based control</a:t>
            </a:r>
          </a:p>
          <a:p>
            <a:pPr algn="l">
              <a:spcAft>
                <a:spcPts val="400"/>
              </a:spcAft>
            </a:pPr>
            <a:r>
              <a:rPr sz="1200" b="0">
                <a:solidFill>
                  <a:srgbClr val="333333"/>
                </a:solidFill>
              </a:rPr>
              <a:t>• Explicit role charters</a:t>
            </a:r>
          </a:p>
          <a:p>
            <a:pPr algn="l">
              <a:spcAft>
                <a:spcPts val="400"/>
              </a:spcAft>
            </a:pPr>
            <a:r>
              <a:rPr sz="1200" b="0">
                <a:solidFill>
                  <a:srgbClr val="333333"/>
                </a:solidFill>
              </a:rPr>
              <a:t>• Innovation funnel from idea to pilot to production</a:t>
            </a:r>
          </a:p>
        </p:txBody>
      </p:sp>
      <p:sp>
        <p:nvSpPr>
          <p:cNvPr id="16" name="Rectangle 15"/>
          <p:cNvSpPr/>
          <p:nvPr/>
        </p:nvSpPr>
        <p:spPr>
          <a:xfrm>
            <a:off x="7955279" y="1325880"/>
            <a:ext cx="3977639" cy="384048"/>
          </a:xfrm>
          <a:prstGeom prst="rect">
            <a:avLst/>
          </a:prstGeom>
          <a:solidFill>
            <a:srgbClr val="E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1362456"/>
            <a:ext cx="3794760" cy="320040"/>
          </a:xfrm>
          <a:prstGeom prst="rect">
            <a:avLst/>
          </a:prstGeom>
          <a:noFill/>
        </p:spPr>
        <p:txBody>
          <a:bodyPr wrap="square">
            <a:spAutoFit/>
          </a:bodyPr>
          <a:lstStyle/>
          <a:p>
            <a:pPr algn="l"/>
            <a:r>
              <a:rPr sz="1300" b="1" i="0">
                <a:solidFill>
                  <a:srgbClr val="0D2B55"/>
                </a:solidFill>
              </a:rPr>
              <a:t>Leadership Decision Required</a:t>
            </a:r>
          </a:p>
        </p:txBody>
      </p:sp>
      <p:sp>
        <p:nvSpPr>
          <p:cNvPr id="18" name="Rectangle 17"/>
          <p:cNvSpPr/>
          <p:nvPr/>
        </p:nvSpPr>
        <p:spPr>
          <a:xfrm>
            <a:off x="7955279" y="1709928"/>
            <a:ext cx="3977639" cy="4599432"/>
          </a:xfrm>
          <a:prstGeom prst="rect">
            <a:avLst/>
          </a:prstGeom>
          <a:solidFill>
            <a:srgbClr val="D6E8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65008" y="1792224"/>
            <a:ext cx="3749039" cy="4389120"/>
          </a:xfrm>
          <a:prstGeom prst="rect">
            <a:avLst/>
          </a:prstGeom>
          <a:noFill/>
        </p:spPr>
        <p:txBody>
          <a:bodyPr wrap="square">
            <a:spAutoFit/>
          </a:bodyPr>
          <a:lstStyle/>
          <a:p>
            <a:pPr algn="l">
              <a:spcAft>
                <a:spcPts val="1200"/>
              </a:spcAft>
            </a:pPr>
            <a:r>
              <a:rPr sz="1100" b="0">
                <a:solidFill>
                  <a:srgbClr val="0D2B55"/>
                </a:solidFill>
              </a:rPr>
              <a:t>✔ Approve the target Architecture Office structure</a:t>
            </a:r>
          </a:p>
          <a:p>
            <a:pPr algn="l">
              <a:spcAft>
                <a:spcPts val="1200"/>
              </a:spcAft>
            </a:pPr>
            <a:r>
              <a:rPr sz="1100" b="0">
                <a:solidFill>
                  <a:srgbClr val="0D2B55"/>
                </a:solidFill>
              </a:rPr>
              <a:t>✔ Approve the matrix operating model</a:t>
            </a:r>
          </a:p>
          <a:p>
            <a:pPr algn="l">
              <a:spcAft>
                <a:spcPts val="1200"/>
              </a:spcAft>
            </a:pPr>
            <a:r>
              <a:rPr sz="1100" b="0">
                <a:solidFill>
                  <a:srgbClr val="0D2B55"/>
                </a:solidFill>
              </a:rPr>
              <a:t>✔ Approve discipline boundaries &amp; decision rights</a:t>
            </a:r>
          </a:p>
          <a:p>
            <a:pPr algn="l">
              <a:spcAft>
                <a:spcPts val="1200"/>
              </a:spcAft>
            </a:pPr>
            <a:r>
              <a:rPr sz="1100" b="0">
                <a:solidFill>
                  <a:srgbClr val="0D2B55"/>
                </a:solidFill>
              </a:rPr>
              <a:t>✔ Approve Emerging Technology &amp; Innovation Architecture under the Chief Architect</a:t>
            </a:r>
          </a:p>
          <a:p>
            <a:pPr algn="l">
              <a:spcAft>
                <a:spcPts val="1200"/>
              </a:spcAft>
            </a:pPr>
            <a:r>
              <a:rPr sz="1100" b="0">
                <a:solidFill>
                  <a:srgbClr val="0D2B55"/>
                </a:solidFill>
              </a:rPr>
              <a:t>✔ Approve the 100-day mobilization plan &amp; year-one roadmap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